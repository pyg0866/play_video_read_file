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5"/>
  </p:notes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8" r:id="rId32"/>
    <p:sldId id="289" r:id="rId33"/>
    <p:sldId id="287" r:id="rId34"/>
    <p:sldId id="290" r:id="rId35"/>
    <p:sldId id="291" r:id="rId36"/>
    <p:sldId id="292" r:id="rId37"/>
    <p:sldId id="293" r:id="rId38"/>
    <p:sldId id="294" r:id="rId39"/>
    <p:sldId id="295" r:id="rId40"/>
    <p:sldId id="297" r:id="rId41"/>
    <p:sldId id="296" r:id="rId42"/>
    <p:sldId id="298" r:id="rId43"/>
    <p:sldId id="299" r:id="rId44"/>
    <p:sldId id="300" r:id="rId45"/>
    <p:sldId id="301" r:id="rId46"/>
    <p:sldId id="303" r:id="rId47"/>
    <p:sldId id="304" r:id="rId48"/>
    <p:sldId id="305" r:id="rId49"/>
    <p:sldId id="302" r:id="rId50"/>
    <p:sldId id="306" r:id="rId51"/>
    <p:sldId id="308" r:id="rId52"/>
    <p:sldId id="309" r:id="rId53"/>
    <p:sldId id="307" r:id="rId54"/>
    <p:sldId id="310" r:id="rId55"/>
    <p:sldId id="311" r:id="rId56"/>
    <p:sldId id="312" r:id="rId57"/>
    <p:sldId id="313" r:id="rId58"/>
    <p:sldId id="314" r:id="rId59"/>
    <p:sldId id="315" r:id="rId60"/>
    <p:sldId id="317" r:id="rId61"/>
    <p:sldId id="318" r:id="rId62"/>
    <p:sldId id="319" r:id="rId63"/>
    <p:sldId id="316" r:id="rId6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77" d="100"/>
          <a:sy n="77" d="100"/>
        </p:scale>
        <p:origin x="189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5T14:09:49.06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24207,'6651'1807'0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7-05T14:09:52.83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 0 24575,'4'2'0,"-1"0"0,1-1 0,-1 1 0,0 1 0,1-1 0,-1 0 0,0 1 0,0 0 0,-1 0 0,1 0 0,-1 0 0,4 5 0,7 6 0,15 14 0,-7-7 0,1 0 0,47 33 0,-62-48 0,0 1 0,0-1 0,-1 1 0,0 1 0,-1-1 0,1 1 0,-2 0 0,1 0 0,4 12 0,3 2 0,-11-19 0,0 0 0,0 0 0,0 0 0,0 0 0,0 0 0,-1 0 0,1 0 0,-1 0 0,0 0 0,0 0 0,0 1 0,0-1 0,-1 0 0,1 0 0,-1 0 0,0 0 0,0 0 0,0 0 0,0 0 0,-1 0 0,1 0 0,-1-1 0,1 1 0,-4 3 0,-6 8 0,0-1 0,-1 0 0,-18 15 0,6-6 0,10-9 34,-2 0-1,0-1 1,-28 16-1,-30 22-1532,59-37-5327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06E2F7F-F9D1-4C2E-AA59-2B8CDC4166A6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318132-CD73-437F-8204-6ED8B903E27F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8195702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18132-CD73-437F-8204-6ED8B903E27F}" type="slidenum">
              <a:rPr lang="en-SG" smtClean="0"/>
              <a:t>11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1173827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18132-CD73-437F-8204-6ED8B903E27F}" type="slidenum">
              <a:rPr lang="en-SG" smtClean="0"/>
              <a:t>13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5181866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18132-CD73-437F-8204-6ED8B903E27F}" type="slidenum">
              <a:rPr lang="en-SG" smtClean="0"/>
              <a:t>31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69712521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318132-CD73-437F-8204-6ED8B903E27F}" type="slidenum">
              <a:rPr lang="en-SG" smtClean="0"/>
              <a:t>49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1621470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676D52-A18A-E2FD-F099-9A67216998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81F4EC5-FAE1-4421-2D58-578F760595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96C3D0-6BF2-737F-B366-D1317C8764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3D89E-DF3A-3589-569F-C71BE718A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C58487-D65B-D835-1123-7BF0FD0B82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3845793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643626-715A-4997-A4AF-B0B3812AE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1A6BA-6290-AB22-492A-0083C6912C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166861-D053-7CF4-187E-85A2BC9E98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A233B7-AE89-7E88-EDDC-D188A017A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A68277-AEBB-8083-0072-FDBC53D6E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98806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F167FA-C83E-43FC-955F-C6890805A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58D1F-16A4-979C-5AA1-2B02CBA2FA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CD6D33-75C5-401D-6F88-E3726C73FC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A1D1C2-E53D-576C-2542-F635A1F5D3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3E101B-50F5-A5CF-45BB-26B38E2FA3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196674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9B64D3-A7A0-40A3-A8AB-6B0FFF0026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F727AC-1DBA-23E7-3CFD-8517440E7A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05C4FD-BC9B-66FA-8E0E-9DA641842C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02F6C08-3E54-9FE1-1B90-37E881E9F7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C914B73-BD0D-FF65-A276-8DCB709FF6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FCC003-B744-57C1-7C6F-5DCE49317C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878274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DCD486-A158-D70D-1455-64129CBF11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AB4498F-9B5A-94E7-6301-2CCDF1F8A04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3FB7D09-93C5-2C3E-FBA0-1330ABEEB65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912C45-BD93-EB9F-58B2-F9C700498BF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BFFCB60-D9A4-F4C6-FB1C-AB887A7E3E2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3022180-909E-789B-6428-986749B87F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91A6216-9F2B-03E2-D194-E2933302DB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7D33E9-FD47-2035-17EF-75200FEC0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510888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2A7C9-799F-B35C-0B09-F053A2E548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A47DCB-CF0F-6E1F-FB29-98F966CED0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366DEC-877C-4E52-C7D8-A975E434A1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A234B7-B7F0-D87A-AE79-3BEFA49F8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233226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C9B80C-76B7-7505-76EC-89EC2FB87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B0AD24B-0665-8F2B-58BE-2389343C68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6F7598-ABBC-A42E-A52F-7AF31D063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0199545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02397-8C89-832E-F82C-E0A13CC2DA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D49C45-1EFA-EC30-33D1-05AE841EB8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6FA70C-A38C-D8FA-B4F5-BB9C9C3E5C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2476C2-6C27-1A3A-5F8B-583E62D20B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608B628-9ADE-8C18-B09B-584042D2E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216226-3A00-D232-2092-5565D82E5F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207092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63147-E101-3D05-CA38-521FCB3CC9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D1936CF-8AC2-0A6C-884A-B30063BEA8E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867A39-62ED-2BB8-34C8-81598C1EA4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9732F1-77DB-C2E8-5CBB-B06D804182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5CE027-DCDF-B2F0-845A-2B953ECBD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7D6698-E1BA-9255-3DBC-54CC1BD0D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6057220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058F57-35F2-8150-E10D-170FD91B38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80C43E-1F4C-459F-4C57-937B84C5F2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D7976-9B53-D6C8-0776-4E6F501202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845808-344C-8A7C-A5A3-F680191CAB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F4E5E0-37AE-B96C-A116-DE6892149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04703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5F44CCF-007F-7DCD-A650-5409B56913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35CFEF6-E787-F912-E10D-795CE546C3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D39E98-A14E-9A08-D3FA-EE0174FAA9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245D17-78D1-8F56-26FC-C52B46324C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A14552-FD34-48FD-AB3E-97ACAB86F1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925542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F5953DD-B30B-6AB5-488D-C5028D30C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887B1B-0F70-B123-A641-4A150FA184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9CAFCE-1674-E642-CEFF-8BC149ADF0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285F89-6B0A-4022-90F7-D6F7DCE83303}" type="datetimeFigureOut">
              <a:rPr lang="en-SG" smtClean="0"/>
              <a:t>4/8/2025</a:t>
            </a:fld>
            <a:endParaRPr lang="en-S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DEB6A1-8011-8C54-8C7D-6520441CD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S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A66137-7A67-4DBF-4F94-80EFF3C588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F2619-7437-44FA-9118-D9D6B50E7785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079505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.xml"/><Relationship Id="rId5" Type="http://schemas.openxmlformats.org/officeDocument/2006/relationships/image" Target="../media/image6.png"/><Relationship Id="rId4" Type="http://schemas.openxmlformats.org/officeDocument/2006/relationships/customXml" Target="../ink/ink1.xml"/><Relationship Id="rId9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7.png"/><Relationship Id="rId4" Type="http://schemas.openxmlformats.org/officeDocument/2006/relationships/image" Target="../media/image46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9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png"/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png"/><Relationship Id="rId2" Type="http://schemas.openxmlformats.org/officeDocument/2006/relationships/image" Target="../media/image66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9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3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6.png"/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8.png"/><Relationship Id="rId2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9.png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0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3.png"/></Relationships>
</file>

<file path=ppt/slides/_rels/slide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4.png"/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5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7.png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9.png"/><Relationship Id="rId2" Type="http://schemas.openxmlformats.org/officeDocument/2006/relationships/image" Target="../media/image8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2.png"/><Relationship Id="rId2" Type="http://schemas.openxmlformats.org/officeDocument/2006/relationships/image" Target="../media/image91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4.png"/><Relationship Id="rId2" Type="http://schemas.openxmlformats.org/officeDocument/2006/relationships/image" Target="../media/image93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6.png"/><Relationship Id="rId2" Type="http://schemas.openxmlformats.org/officeDocument/2006/relationships/image" Target="../media/image95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7.pn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9.png"/><Relationship Id="rId2" Type="http://schemas.openxmlformats.org/officeDocument/2006/relationships/image" Target="../media/image9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1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2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3.png"/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5.png"/><Relationship Id="rId2" Type="http://schemas.openxmlformats.org/officeDocument/2006/relationships/image" Target="../media/image104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7.png"/><Relationship Id="rId2" Type="http://schemas.openxmlformats.org/officeDocument/2006/relationships/image" Target="../media/image106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9.png"/><Relationship Id="rId2" Type="http://schemas.openxmlformats.org/officeDocument/2006/relationships/image" Target="../media/image10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1.png"/><Relationship Id="rId4" Type="http://schemas.openxmlformats.org/officeDocument/2006/relationships/image" Target="../media/image110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q2zlkM4cas" TargetMode="External"/><Relationship Id="rId7" Type="http://schemas.openxmlformats.org/officeDocument/2006/relationships/hyperlink" Target="https://www.youtube.com/watch?v=wis8P3lZvH4" TargetMode="External"/><Relationship Id="rId2" Type="http://schemas.openxmlformats.org/officeDocument/2006/relationships/image" Target="../media/image112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youtube.com/watch?v=d5X_a9shDl4" TargetMode="External"/><Relationship Id="rId5" Type="http://schemas.openxmlformats.org/officeDocument/2006/relationships/hyperlink" Target="https://www.youtube.com/watch?v=azFcPJt9egs" TargetMode="External"/><Relationship Id="rId4" Type="http://schemas.openxmlformats.org/officeDocument/2006/relationships/hyperlink" Target="https://www.youtube.com/watch?v=oo4wrdzq8Y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4E8534E7-14CB-B818-8E2E-F46118715998}"/>
              </a:ext>
            </a:extLst>
          </p:cNvPr>
          <p:cNvSpPr txBox="1"/>
          <p:nvPr/>
        </p:nvSpPr>
        <p:spPr>
          <a:xfrm>
            <a:off x="2141621" y="336884"/>
            <a:ext cx="59756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Open part file  ready  for machine set up </a:t>
            </a:r>
            <a:endParaRPr lang="en-SG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666D1E11-9D07-360C-B221-26EF4B3DF1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5598" y="756864"/>
            <a:ext cx="10240804" cy="53442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62487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478F0-F9E0-7498-15E2-A4DFAA362B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G" b="1" dirty="0"/>
              <a:t>Select Machine Type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0B6ED18-BBA0-3196-5D81-6E34633C74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790" y="2669598"/>
            <a:ext cx="11221452" cy="1988501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9D43C456-5F9E-F18C-21CE-DFCA3DF66851}"/>
              </a:ext>
            </a:extLst>
          </p:cNvPr>
          <p:cNvSpPr/>
          <p:nvPr/>
        </p:nvSpPr>
        <p:spPr>
          <a:xfrm>
            <a:off x="6577263" y="2911642"/>
            <a:ext cx="649705" cy="32084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BABD106-08C6-3D14-0A7A-933FF88E7ED2}"/>
              </a:ext>
            </a:extLst>
          </p:cNvPr>
          <p:cNvSpPr/>
          <p:nvPr/>
        </p:nvSpPr>
        <p:spPr>
          <a:xfrm>
            <a:off x="1384665" y="3232484"/>
            <a:ext cx="649705" cy="509957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A3AF83A-DC4B-CBFB-AFDC-356090E6FE02}"/>
              </a:ext>
            </a:extLst>
          </p:cNvPr>
          <p:cNvSpPr/>
          <p:nvPr/>
        </p:nvSpPr>
        <p:spPr>
          <a:xfrm>
            <a:off x="1709517" y="3742441"/>
            <a:ext cx="3201848" cy="395925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93012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A985E-5BA6-573D-E5E1-E1654408A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2011" y="497101"/>
            <a:ext cx="10407977" cy="398446"/>
          </a:xfrm>
        </p:spPr>
        <p:txBody>
          <a:bodyPr>
            <a:noAutofit/>
          </a:bodyPr>
          <a:lstStyle/>
          <a:p>
            <a:pPr algn="ctr"/>
            <a:r>
              <a:rPr lang="en-US" sz="3600" dirty="0"/>
              <a:t>After selected machine Type the Machine Group Properties pop up</a:t>
            </a:r>
            <a:endParaRPr lang="en-S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9941DFF-B9A1-2199-8C0F-8DE165B9C1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2088" y="1188162"/>
            <a:ext cx="9317079" cy="552844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0DC02FB-C870-52D4-AD97-D2E18C515FEE}"/>
              </a:ext>
            </a:extLst>
          </p:cNvPr>
          <p:cNvSpPr txBox="1"/>
          <p:nvPr/>
        </p:nvSpPr>
        <p:spPr>
          <a:xfrm>
            <a:off x="4939645" y="3233394"/>
            <a:ext cx="2055044" cy="2031325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Now we need to setup all related items for Machine Group Properties before we can start to do the Toolpaths process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3184449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B76770-68C3-AE7C-DDA2-631250576E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1031530"/>
          </a:xfrm>
        </p:spPr>
        <p:txBody>
          <a:bodyPr>
            <a:normAutofit fontScale="90000"/>
          </a:bodyPr>
          <a:lstStyle/>
          <a:p>
            <a:pPr algn="ctr"/>
            <a:r>
              <a:rPr lang="en-US" dirty="0"/>
              <a:t>Just for information about Machine  Configuration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49E644D-5EAD-C7C8-C3F8-2CC43060C9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6411" y="1396655"/>
            <a:ext cx="4107951" cy="509622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D2C1139-64DF-4A1A-8E86-4577808E9C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2808" y="2218388"/>
            <a:ext cx="2081124" cy="1410931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9FBD0853-5C98-3C96-037E-F4CE3E58897F}"/>
              </a:ext>
            </a:extLst>
          </p:cNvPr>
          <p:cNvSpPr/>
          <p:nvPr/>
        </p:nvSpPr>
        <p:spPr>
          <a:xfrm>
            <a:off x="2980681" y="1715679"/>
            <a:ext cx="1176540" cy="82955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C86A439-9CC2-6073-7C5C-D22A8B9114A4}"/>
              </a:ext>
            </a:extLst>
          </p:cNvPr>
          <p:cNvSpPr/>
          <p:nvPr/>
        </p:nvSpPr>
        <p:spPr>
          <a:xfrm>
            <a:off x="6577263" y="2121032"/>
            <a:ext cx="2729277" cy="15082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C67F6D61-38A2-B3B1-CCBF-CA19979CF9D4}"/>
                  </a:ext>
                </a:extLst>
              </p14:cNvPr>
              <p14:cNvContentPartPr/>
              <p14:nvPr/>
            </p14:nvContentPartPr>
            <p14:xfrm>
              <a:off x="4147597" y="2102029"/>
              <a:ext cx="2394720" cy="65088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C67F6D61-38A2-B3B1-CCBF-CA19979CF9D4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141477" y="2095909"/>
                <a:ext cx="2406960" cy="663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352B84CE-5E64-6291-71A0-9605DFE15892}"/>
                  </a:ext>
                </a:extLst>
              </p14:cNvPr>
              <p14:cNvContentPartPr/>
              <p14:nvPr/>
            </p14:nvContentPartPr>
            <p14:xfrm>
              <a:off x="6473557" y="2639509"/>
              <a:ext cx="102600" cy="208800"/>
            </p14:xfrm>
          </p:contentPart>
        </mc:Choice>
        <mc:Fallback xmlns=""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352B84CE-5E64-6291-71A0-9605DFE15892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467437" y="2633389"/>
                <a:ext cx="114840" cy="221040"/>
              </a:xfrm>
              <a:prstGeom prst="rect">
                <a:avLst/>
              </a:prstGeom>
            </p:spPr>
          </p:pic>
        </mc:Fallback>
      </mc:AlternateContent>
      <p:sp>
        <p:nvSpPr>
          <p:cNvPr id="14" name="TextBox 13">
            <a:extLst>
              <a:ext uri="{FF2B5EF4-FFF2-40B4-BE49-F238E27FC236}">
                <a16:creationId xmlns:a16="http://schemas.microsoft.com/office/drawing/2014/main" id="{45D94406-3ED8-52B0-5702-BAD89148867F}"/>
              </a:ext>
            </a:extLst>
          </p:cNvPr>
          <p:cNvSpPr txBox="1"/>
          <p:nvPr/>
        </p:nvSpPr>
        <p:spPr>
          <a:xfrm>
            <a:off x="4157221" y="4166799"/>
            <a:ext cx="4905080" cy="1200329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If you have saved some existing machine configuration you can load it and use it and can save some setting time due less items need to modify. </a:t>
            </a:r>
            <a:endParaRPr lang="en-SG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5B1F53D6-7047-0998-A949-0BD39B445C6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50950" y="3344158"/>
            <a:ext cx="2729277" cy="3255312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8019D4E9-EB68-6624-E768-71CAF112072E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474358" y="1660599"/>
            <a:ext cx="2457242" cy="1588819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E0D916F6-4FFF-72A7-6E15-86DBBDAB8A21}"/>
              </a:ext>
            </a:extLst>
          </p:cNvPr>
          <p:cNvSpPr/>
          <p:nvPr/>
        </p:nvSpPr>
        <p:spPr>
          <a:xfrm>
            <a:off x="9425730" y="1491396"/>
            <a:ext cx="2621726" cy="1852762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7067156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9CE7E1-F8E3-58FB-8D61-78BE563A5F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dirty="0"/>
              <a:t>Select Work Holding to change the Left and right spindle chucks setting  </a:t>
            </a:r>
            <a:endParaRPr lang="en-SG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E90B04C-3676-EC00-C8B4-706145D561E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346515" y="1417054"/>
            <a:ext cx="4232635" cy="5258265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B5DB658-70A7-0687-CDBB-885E76D8602F}"/>
              </a:ext>
            </a:extLst>
          </p:cNvPr>
          <p:cNvSpPr/>
          <p:nvPr/>
        </p:nvSpPr>
        <p:spPr>
          <a:xfrm>
            <a:off x="3536863" y="2055043"/>
            <a:ext cx="1176540" cy="160256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0E3D749B-A103-0AC6-BC85-24FBDF3E8B86}"/>
              </a:ext>
            </a:extLst>
          </p:cNvPr>
          <p:cNvSpPr/>
          <p:nvPr/>
        </p:nvSpPr>
        <p:spPr>
          <a:xfrm>
            <a:off x="5301247" y="2329992"/>
            <a:ext cx="1176540" cy="160256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6174139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ABAFDA-DFC4-7631-0DAD-E48B0C958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Set the Left Spindle Chuck as picture 2 parameters 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B481764-F81E-1855-4C66-F3717C41C8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22579" y="2416647"/>
            <a:ext cx="3662586" cy="32399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78CDBD2-6623-A629-26BD-7F11B2EA23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4420" y="1791636"/>
            <a:ext cx="4186265" cy="460029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2F0ABAD-9026-89C7-D895-3543CE66616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868" y="1791636"/>
            <a:ext cx="4204505" cy="460029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9DBCD5AD-3742-1A09-EAF2-72158DF94D4C}"/>
              </a:ext>
            </a:extLst>
          </p:cNvPr>
          <p:cNvSpPr txBox="1"/>
          <p:nvPr/>
        </p:nvSpPr>
        <p:spPr>
          <a:xfrm>
            <a:off x="1178352" y="5803041"/>
            <a:ext cx="1263191" cy="646331"/>
          </a:xfrm>
          <a:prstGeom prst="rect">
            <a:avLst/>
          </a:prstGeom>
          <a:solidFill>
            <a:srgbClr val="FFFF00"/>
          </a:solidFill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</a:t>
            </a:r>
          </a:p>
          <a:p>
            <a:pPr algn="ctr"/>
            <a:r>
              <a:rPr lang="en-US" dirty="0"/>
              <a:t>Picture 1 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2E5BD60-3D8B-990C-CEB6-46D6A557BB1F}"/>
              </a:ext>
            </a:extLst>
          </p:cNvPr>
          <p:cNvSpPr txBox="1"/>
          <p:nvPr/>
        </p:nvSpPr>
        <p:spPr>
          <a:xfrm>
            <a:off x="5044912" y="5769204"/>
            <a:ext cx="1263191" cy="646331"/>
          </a:xfrm>
          <a:prstGeom prst="rect">
            <a:avLst/>
          </a:prstGeom>
          <a:solidFill>
            <a:srgbClr val="FFFF00"/>
          </a:solidFill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</a:t>
            </a:r>
          </a:p>
          <a:p>
            <a:pPr algn="ctr"/>
            <a:r>
              <a:rPr lang="en-US" dirty="0"/>
              <a:t>Picture 2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6399124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7D9545D-42C3-E99C-732E-CA7F02C7E1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81" y="1925271"/>
            <a:ext cx="4066272" cy="448188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F02578F-CA7D-34C0-5CEA-417EDA201E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06555" y="1967823"/>
            <a:ext cx="4161685" cy="452505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1A07C51-BA41-FE81-ABDB-30D5A95C6D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6211" y="2570265"/>
            <a:ext cx="3203745" cy="2834083"/>
          </a:xfrm>
          <a:prstGeom prst="rect">
            <a:avLst/>
          </a:prstGeom>
        </p:spPr>
      </p:pic>
      <p:sp>
        <p:nvSpPr>
          <p:cNvPr id="9" name="Title 1">
            <a:extLst>
              <a:ext uri="{FF2B5EF4-FFF2-40B4-BE49-F238E27FC236}">
                <a16:creationId xmlns:a16="http://schemas.microsoft.com/office/drawing/2014/main" id="{E799EFAC-A6EB-7893-3F8C-0E64B96372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Set the Right Spindle Chuck as picture 2 parameters </a:t>
            </a:r>
            <a:endParaRPr lang="en-SG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56D01A8-FC19-6545-0D37-2D7398A644CD}"/>
              </a:ext>
            </a:extLst>
          </p:cNvPr>
          <p:cNvSpPr txBox="1"/>
          <p:nvPr/>
        </p:nvSpPr>
        <p:spPr>
          <a:xfrm>
            <a:off x="1580811" y="5957739"/>
            <a:ext cx="1263191" cy="646331"/>
          </a:xfrm>
          <a:prstGeom prst="rect">
            <a:avLst/>
          </a:prstGeom>
          <a:solidFill>
            <a:srgbClr val="FFFF00"/>
          </a:solidFill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Before</a:t>
            </a:r>
          </a:p>
          <a:p>
            <a:pPr algn="ctr"/>
            <a:r>
              <a:rPr lang="en-US" dirty="0"/>
              <a:t>Picture 1 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D7F2CD-3C39-7C66-52A3-AD9280D118A5}"/>
              </a:ext>
            </a:extLst>
          </p:cNvPr>
          <p:cNvSpPr txBox="1"/>
          <p:nvPr/>
        </p:nvSpPr>
        <p:spPr>
          <a:xfrm>
            <a:off x="5742496" y="5957740"/>
            <a:ext cx="1263191" cy="646331"/>
          </a:xfrm>
          <a:prstGeom prst="rect">
            <a:avLst/>
          </a:prstGeom>
          <a:solidFill>
            <a:srgbClr val="FFFF00"/>
          </a:solidFill>
          <a:ln w="222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After</a:t>
            </a:r>
          </a:p>
          <a:p>
            <a:pPr algn="ctr"/>
            <a:r>
              <a:rPr lang="en-US" dirty="0"/>
              <a:t>Picture 2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979479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56F24-2B16-3678-6A81-44A27FE0A6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5684" y="222629"/>
            <a:ext cx="10473965" cy="417300"/>
          </a:xfrm>
          <a:solidFill>
            <a:schemeClr val="bg1"/>
          </a:solidFill>
        </p:spPr>
        <p:txBody>
          <a:bodyPr>
            <a:noAutofit/>
          </a:bodyPr>
          <a:lstStyle/>
          <a:p>
            <a:pPr algn="ctr"/>
            <a:r>
              <a:rPr lang="en-US" sz="3200" dirty="0"/>
              <a:t>Change Max speed for Left and Right spindle to </a:t>
            </a:r>
            <a:r>
              <a:rPr lang="en-US" sz="3200" dirty="0">
                <a:solidFill>
                  <a:srgbClr val="FF0000"/>
                </a:solidFill>
              </a:rPr>
              <a:t>2500</a:t>
            </a:r>
            <a:endParaRPr lang="en-SG" sz="3200" dirty="0">
              <a:solidFill>
                <a:srgbClr val="FF0000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C8252350-54B8-DAB3-D150-CF11B488E8D0}"/>
              </a:ext>
            </a:extLst>
          </p:cNvPr>
          <p:cNvGrpSpPr/>
          <p:nvPr/>
        </p:nvGrpSpPr>
        <p:grpSpPr>
          <a:xfrm>
            <a:off x="3593648" y="912966"/>
            <a:ext cx="4372002" cy="5365283"/>
            <a:chOff x="3593648" y="912966"/>
            <a:chExt cx="4372002" cy="536528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5964DBAC-F176-F7B8-DF8B-ECA355DD6A5F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593648" y="912966"/>
              <a:ext cx="4372002" cy="5365283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9E4FA51C-7665-D180-E960-9CADAB76CC43}"/>
                </a:ext>
              </a:extLst>
            </p:cNvPr>
            <p:cNvSpPr/>
            <p:nvPr/>
          </p:nvSpPr>
          <p:spPr>
            <a:xfrm>
              <a:off x="6789110" y="3280528"/>
              <a:ext cx="1176540" cy="14847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A0D07CCD-7F10-9C1B-A6A2-BFEEDFB998D1}"/>
                </a:ext>
              </a:extLst>
            </p:cNvPr>
            <p:cNvSpPr/>
            <p:nvPr/>
          </p:nvSpPr>
          <p:spPr>
            <a:xfrm>
              <a:off x="6647708" y="4485980"/>
              <a:ext cx="1176540" cy="217995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1081944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FF08A-67DE-2DD9-4F95-6EAB82DDE8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459334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Set the Setup Type as show at below picture 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CA7384B2-C899-1678-F037-23230278CBDB}"/>
              </a:ext>
            </a:extLst>
          </p:cNvPr>
          <p:cNvGrpSpPr/>
          <p:nvPr/>
        </p:nvGrpSpPr>
        <p:grpSpPr>
          <a:xfrm>
            <a:off x="1781229" y="1217998"/>
            <a:ext cx="10410771" cy="5641883"/>
            <a:chOff x="1781229" y="1217998"/>
            <a:chExt cx="10410771" cy="5641883"/>
          </a:xfrm>
        </p:grpSpPr>
        <p:pic>
          <p:nvPicPr>
            <p:cNvPr id="5" name="Picture 4" descr="A screenshot of a computer">
              <a:extLst>
                <a:ext uri="{FF2B5EF4-FFF2-40B4-BE49-F238E27FC236}">
                  <a16:creationId xmlns:a16="http://schemas.microsoft.com/office/drawing/2014/main" id="{452B2E18-01CE-A811-FDA9-0A22998A42F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251950" y="1217998"/>
              <a:ext cx="4706507" cy="5641883"/>
            </a:xfrm>
            <a:prstGeom prst="rect">
              <a:avLst/>
            </a:prstGeom>
          </p:spPr>
        </p:pic>
        <p:pic>
          <p:nvPicPr>
            <p:cNvPr id="9" name="Picture 8" descr="A close up of a sign&#10;&#10;AI-generated content may be incorrect.">
              <a:extLst>
                <a:ext uri="{FF2B5EF4-FFF2-40B4-BE49-F238E27FC236}">
                  <a16:creationId xmlns:a16="http://schemas.microsoft.com/office/drawing/2014/main" id="{4D71AFE6-ABAB-7976-EF3F-142B143A22B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064372" y="4213954"/>
              <a:ext cx="4127628" cy="762899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8A13C677-F89F-78C9-2A35-7C24F1D59C0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97424" y="1769888"/>
              <a:ext cx="2110753" cy="45933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DEA2F7C5-4D63-AF4F-20EE-3EFD8A90D14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781230" y="1514008"/>
              <a:ext cx="1805185" cy="588208"/>
            </a:xfrm>
            <a:prstGeom prst="rect">
              <a:avLst/>
            </a:prstGeom>
          </p:spPr>
        </p:pic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7FAB82A9-2257-9E02-0BBD-8068E2F53CCE}"/>
                </a:ext>
              </a:extLst>
            </p:cNvPr>
            <p:cNvSpPr/>
            <p:nvPr/>
          </p:nvSpPr>
          <p:spPr>
            <a:xfrm>
              <a:off x="1781229" y="1341620"/>
              <a:ext cx="1868875" cy="1223579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4C24857-A85F-6E89-32DA-0E7B57C7F6E0}"/>
                </a:ext>
              </a:extLst>
            </p:cNvPr>
            <p:cNvSpPr/>
            <p:nvPr/>
          </p:nvSpPr>
          <p:spPr>
            <a:xfrm>
              <a:off x="4371244" y="2068966"/>
              <a:ext cx="1176540" cy="160256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FA829B00-5E74-DD68-23BE-B54F53353D01}"/>
                </a:ext>
              </a:extLst>
            </p:cNvPr>
            <p:cNvSpPr/>
            <p:nvPr/>
          </p:nvSpPr>
          <p:spPr>
            <a:xfrm>
              <a:off x="6016933" y="2149094"/>
              <a:ext cx="1176540" cy="261026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FCA0A2D-FBCC-CDC2-84A2-B454E4977C6F}"/>
                </a:ext>
              </a:extLst>
            </p:cNvPr>
            <p:cNvSpPr/>
            <p:nvPr/>
          </p:nvSpPr>
          <p:spPr>
            <a:xfrm>
              <a:off x="6185941" y="4038939"/>
              <a:ext cx="1496518" cy="261026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CD9C3ADE-BDED-977C-B5B7-30B5C2A15C31}"/>
                </a:ext>
              </a:extLst>
            </p:cNvPr>
            <p:cNvCxnSpPr>
              <a:stCxn id="15" idx="2"/>
              <a:endCxn id="14" idx="6"/>
            </p:cNvCxnSpPr>
            <p:nvPr/>
          </p:nvCxnSpPr>
          <p:spPr>
            <a:xfrm flipH="1" flipV="1">
              <a:off x="3650104" y="1953410"/>
              <a:ext cx="721140" cy="195684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>
              <a:extLst>
                <a:ext uri="{FF2B5EF4-FFF2-40B4-BE49-F238E27FC236}">
                  <a16:creationId xmlns:a16="http://schemas.microsoft.com/office/drawing/2014/main" id="{130058A4-0C61-84E3-9C36-D1CF4E137D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7178976" y="2068966"/>
              <a:ext cx="483646" cy="21597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EAACFF1F-1DBC-32C5-037C-A30740167629}"/>
                </a:ext>
              </a:extLst>
            </p:cNvPr>
            <p:cNvCxnSpPr>
              <a:cxnSpLocks/>
            </p:cNvCxnSpPr>
            <p:nvPr/>
          </p:nvCxnSpPr>
          <p:spPr>
            <a:xfrm>
              <a:off x="7612319" y="4125170"/>
              <a:ext cx="730569" cy="31139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BE609FC3-9CAF-A8CB-CD54-4FDA7CFE793C}"/>
                </a:ext>
              </a:extLst>
            </p:cNvPr>
            <p:cNvSpPr/>
            <p:nvPr/>
          </p:nvSpPr>
          <p:spPr>
            <a:xfrm>
              <a:off x="7639302" y="1297436"/>
              <a:ext cx="1868875" cy="1223579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2A040B0B-4DFA-FBC5-AAAB-F73C286A76B2}"/>
                </a:ext>
              </a:extLst>
            </p:cNvPr>
            <p:cNvSpPr/>
            <p:nvPr/>
          </p:nvSpPr>
          <p:spPr>
            <a:xfrm>
              <a:off x="8174399" y="4038940"/>
              <a:ext cx="2718049" cy="139859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B1600990-E71D-C447-644F-9E9169F84C05}"/>
                </a:ext>
              </a:extLst>
            </p:cNvPr>
            <p:cNvSpPr/>
            <p:nvPr/>
          </p:nvSpPr>
          <p:spPr>
            <a:xfrm>
              <a:off x="6055948" y="2149094"/>
              <a:ext cx="1176540" cy="261026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255297295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FF71C-7F48-4F5A-493F-CBA704A22C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SG" dirty="0"/>
              <a:t>Set WCS to Top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A05E0EBC-0802-1A09-C88F-9FF887F3763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6225" y="1860859"/>
            <a:ext cx="8644801" cy="4485950"/>
          </a:xfrm>
        </p:spPr>
      </p:pic>
    </p:spTree>
    <p:extLst>
      <p:ext uri="{BB962C8B-B14F-4D97-AF65-F5344CB8AC3E}">
        <p14:creationId xmlns:p14="http://schemas.microsoft.com/office/powerpoint/2010/main" val="320609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D6889F-A9E6-0D95-2B58-D37F311AFA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83961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Set the Left Spindle for Part Geometry </a:t>
            </a:r>
          </a:p>
        </p:txBody>
      </p:sp>
      <p:pic>
        <p:nvPicPr>
          <p:cNvPr id="5" name="Content Placeholder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FABA8B37-10A5-6FC3-5754-5DC5B988556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657" y="1076879"/>
            <a:ext cx="8085805" cy="5503125"/>
          </a:xfr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E9203B57-8C2C-BE89-A0DD-69E4A14CF84D}"/>
              </a:ext>
            </a:extLst>
          </p:cNvPr>
          <p:cNvGrpSpPr/>
          <p:nvPr/>
        </p:nvGrpSpPr>
        <p:grpSpPr>
          <a:xfrm>
            <a:off x="4101737" y="1280259"/>
            <a:ext cx="7704909" cy="4895470"/>
            <a:chOff x="4101737" y="1280259"/>
            <a:chExt cx="7704909" cy="4895470"/>
          </a:xfrm>
        </p:grpSpPr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16EABBB8-5381-6C91-D1E0-B572CF50CBB5}"/>
                </a:ext>
              </a:extLst>
            </p:cNvPr>
            <p:cNvSpPr/>
            <p:nvPr/>
          </p:nvSpPr>
          <p:spPr>
            <a:xfrm>
              <a:off x="4101737" y="1763487"/>
              <a:ext cx="483327" cy="228600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74CF3E0A-4260-470A-15AE-03A9A6DAB142}"/>
                </a:ext>
              </a:extLst>
            </p:cNvPr>
            <p:cNvSpPr txBox="1"/>
            <p:nvPr/>
          </p:nvSpPr>
          <p:spPr>
            <a:xfrm>
              <a:off x="4585064" y="1280259"/>
              <a:ext cx="2018210" cy="3693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SG" dirty="0"/>
                <a:t>1.) select the Arrow</a:t>
              </a:r>
            </a:p>
          </p:txBody>
        </p:sp>
        <p:pic>
          <p:nvPicPr>
            <p:cNvPr id="10" name="Picture 9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9B1672BE-7CF1-239B-CD9F-1702A206D5C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03273" y="1877384"/>
              <a:ext cx="4654805" cy="4088403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9419416A-4DA5-8512-4F72-BEA14C549F95}"/>
                </a:ext>
              </a:extLst>
            </p:cNvPr>
            <p:cNvSpPr txBox="1"/>
            <p:nvPr/>
          </p:nvSpPr>
          <p:spPr>
            <a:xfrm>
              <a:off x="7232468" y="3935455"/>
              <a:ext cx="2730137" cy="3693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SG" dirty="0"/>
                <a:t>2.) Click on the  workpiece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7BD1AB84-3363-4FDB-18D3-5A4475378A78}"/>
                </a:ext>
              </a:extLst>
            </p:cNvPr>
            <p:cNvSpPr txBox="1"/>
            <p:nvPr/>
          </p:nvSpPr>
          <p:spPr>
            <a:xfrm>
              <a:off x="5995852" y="5806397"/>
              <a:ext cx="5810794" cy="369332"/>
            </a:xfrm>
            <a:prstGeom prst="rect">
              <a:avLst/>
            </a:prstGeom>
            <a:solidFill>
              <a:srgbClr val="FFFF00"/>
            </a:solidFill>
            <a:ln w="2857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3.) End Selection and the rest just follow as picture show .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83889872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6EB6CC-9AB9-183A-E2CF-DD1CA8B906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78737" cy="503555"/>
          </a:xfrm>
        </p:spPr>
        <p:txBody>
          <a:bodyPr>
            <a:normAutofit fontScale="90000"/>
          </a:bodyPr>
          <a:lstStyle/>
          <a:p>
            <a:r>
              <a:rPr lang="en-SG" dirty="0"/>
              <a:t>Set Bar Stock Size accordingly show as the picture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AEDF995-F2C9-3477-3E8B-A093BB7925A4}"/>
              </a:ext>
            </a:extLst>
          </p:cNvPr>
          <p:cNvGrpSpPr/>
          <p:nvPr/>
        </p:nvGrpSpPr>
        <p:grpSpPr>
          <a:xfrm>
            <a:off x="1302488" y="861306"/>
            <a:ext cx="8731262" cy="5921455"/>
            <a:chOff x="1803934" y="936545"/>
            <a:chExt cx="8731262" cy="5921455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61ABFB73-3312-9C35-D353-1D6BA290EC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803934" y="936545"/>
              <a:ext cx="8731262" cy="5921455"/>
            </a:xfrm>
            <a:prstGeom prst="rect">
              <a:avLst/>
            </a:prstGeom>
          </p:spPr>
        </p:pic>
        <p:pic>
          <p:nvPicPr>
            <p:cNvPr id="7" name="Picture 6" descr="A green square with a grey circle&#10;&#10;AI-generated content may be incorrect.">
              <a:extLst>
                <a:ext uri="{FF2B5EF4-FFF2-40B4-BE49-F238E27FC236}">
                  <a16:creationId xmlns:a16="http://schemas.microsoft.com/office/drawing/2014/main" id="{362472E8-E582-195A-AC03-1323C3D5AC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124169" y="1909556"/>
              <a:ext cx="1276630" cy="539461"/>
            </a:xfrm>
            <a:prstGeom prst="rect">
              <a:avLst/>
            </a:prstGeom>
          </p:spPr>
        </p:pic>
        <p:pic>
          <p:nvPicPr>
            <p:cNvPr id="9" name="Picture 8" descr="A green rectangle with red arrows&#10;&#10;AI-generated content may be incorrect.">
              <a:extLst>
                <a:ext uri="{FF2B5EF4-FFF2-40B4-BE49-F238E27FC236}">
                  <a16:creationId xmlns:a16="http://schemas.microsoft.com/office/drawing/2014/main" id="{03D7150A-0F74-4606-7C87-205B22CC0CB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254188" y="3538516"/>
              <a:ext cx="1406592" cy="719975"/>
            </a:xfrm>
            <a:prstGeom prst="rect">
              <a:avLst/>
            </a:prstGeom>
          </p:spPr>
        </p:pic>
        <p:pic>
          <p:nvPicPr>
            <p:cNvPr id="11" name="Picture 10" descr="A green and grey rectangle with a red circle&#10;&#10;AI-generated content may be incorrect.">
              <a:extLst>
                <a:ext uri="{FF2B5EF4-FFF2-40B4-BE49-F238E27FC236}">
                  <a16:creationId xmlns:a16="http://schemas.microsoft.com/office/drawing/2014/main" id="{70FEDE03-A69F-09B8-798E-8E87B04BDCFC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37761" y="4435575"/>
              <a:ext cx="1381134" cy="615413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55704142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4157F-AF08-99AD-1C2E-6F8CB5A2BB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272" y="429109"/>
            <a:ext cx="10515600" cy="393565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Set </a:t>
            </a:r>
            <a:r>
              <a:rPr lang="en-SG" dirty="0" err="1"/>
              <a:t>Toolplane</a:t>
            </a:r>
            <a:r>
              <a:rPr lang="en-SG" dirty="0"/>
              <a:t> Origin Z as below picture</a:t>
            </a: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DF914DB-150C-672F-210F-DC71FFAA95A3}"/>
              </a:ext>
            </a:extLst>
          </p:cNvPr>
          <p:cNvGrpSpPr/>
          <p:nvPr/>
        </p:nvGrpSpPr>
        <p:grpSpPr>
          <a:xfrm>
            <a:off x="211106" y="822674"/>
            <a:ext cx="11769788" cy="5871885"/>
            <a:chOff x="1026190" y="854438"/>
            <a:chExt cx="11769788" cy="5871885"/>
          </a:xfrm>
        </p:grpSpPr>
        <p:pic>
          <p:nvPicPr>
            <p:cNvPr id="5" name="Picture 4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EF7A49C0-4045-05DC-9368-A39401281A7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32228" y="1203470"/>
              <a:ext cx="4641193" cy="5522853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CEC6603D-3081-ABE8-AAB9-2231D47E20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26190" y="2279323"/>
              <a:ext cx="2689020" cy="478867"/>
            </a:xfrm>
            <a:prstGeom prst="rect">
              <a:avLst/>
            </a:prstGeom>
          </p:spPr>
        </p:pic>
        <p:pic>
          <p:nvPicPr>
            <p:cNvPr id="9" name="Picture 8" descr="A screenshot of a computer&#10;&#10;AI-generated content may be incorrect.">
              <a:extLst>
                <a:ext uri="{FF2B5EF4-FFF2-40B4-BE49-F238E27FC236}">
                  <a16:creationId xmlns:a16="http://schemas.microsoft.com/office/drawing/2014/main" id="{AE53C7D5-97E3-8C4B-8B61-57F6A654692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441719" y="1460088"/>
              <a:ext cx="4354259" cy="3727961"/>
            </a:xfrm>
            <a:prstGeom prst="rect">
              <a:avLst/>
            </a:prstGeom>
          </p:spPr>
        </p:pic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A09DCCF7-F30A-E686-9D93-0C75331A7842}"/>
                </a:ext>
              </a:extLst>
            </p:cNvPr>
            <p:cNvSpPr/>
            <p:nvPr/>
          </p:nvSpPr>
          <p:spPr>
            <a:xfrm>
              <a:off x="1026190" y="1819459"/>
              <a:ext cx="2718049" cy="139859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9D3CC107-EFD7-A579-C02E-3ECEC7CCE17A}"/>
                </a:ext>
              </a:extLst>
            </p:cNvPr>
            <p:cNvSpPr/>
            <p:nvPr/>
          </p:nvSpPr>
          <p:spPr>
            <a:xfrm>
              <a:off x="3903199" y="2571466"/>
              <a:ext cx="1433299" cy="18672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EEE44EF9-53AA-F401-9BD9-53D152EC27C3}"/>
                </a:ext>
              </a:extLst>
            </p:cNvPr>
            <p:cNvSpPr/>
            <p:nvPr/>
          </p:nvSpPr>
          <p:spPr>
            <a:xfrm>
              <a:off x="5495459" y="996846"/>
              <a:ext cx="2344398" cy="2968051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54AD364-7621-2FB7-D09B-6517AE9342FA}"/>
                </a:ext>
              </a:extLst>
            </p:cNvPr>
            <p:cNvSpPr/>
            <p:nvPr/>
          </p:nvSpPr>
          <p:spPr>
            <a:xfrm>
              <a:off x="8186623" y="854438"/>
              <a:ext cx="3857974" cy="4714407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8C01AD22-54A8-B1E3-E489-13A82063175F}"/>
                </a:ext>
              </a:extLst>
            </p:cNvPr>
            <p:cNvCxnSpPr>
              <a:stCxn id="14" idx="6"/>
            </p:cNvCxnSpPr>
            <p:nvPr/>
          </p:nvCxnSpPr>
          <p:spPr>
            <a:xfrm>
              <a:off x="7839857" y="2480872"/>
              <a:ext cx="532150" cy="7495"/>
            </a:xfrm>
            <a:prstGeom prst="straightConnector1">
              <a:avLst/>
            </a:prstGeom>
            <a:ln w="539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>
              <a:extLst>
                <a:ext uri="{FF2B5EF4-FFF2-40B4-BE49-F238E27FC236}">
                  <a16:creationId xmlns:a16="http://schemas.microsoft.com/office/drawing/2014/main" id="{470893D0-446A-38C8-709E-E7A8E064CE9B}"/>
                </a:ext>
              </a:extLst>
            </p:cNvPr>
            <p:cNvCxnSpPr>
              <a:cxnSpLocks/>
              <a:stCxn id="13" idx="2"/>
              <a:endCxn id="12" idx="6"/>
            </p:cNvCxnSpPr>
            <p:nvPr/>
          </p:nvCxnSpPr>
          <p:spPr>
            <a:xfrm flipH="1" flipV="1">
              <a:off x="3744239" y="2518756"/>
              <a:ext cx="158960" cy="146072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6EB2519-D815-23FF-1D20-95321475A414}"/>
                </a:ext>
              </a:extLst>
            </p:cNvPr>
            <p:cNvSpPr txBox="1"/>
            <p:nvPr/>
          </p:nvSpPr>
          <p:spPr>
            <a:xfrm>
              <a:off x="9728616" y="5664593"/>
              <a:ext cx="1896256" cy="923330"/>
            </a:xfrm>
            <a:prstGeom prst="rect">
              <a:avLst/>
            </a:prstGeom>
            <a:solidFill>
              <a:srgbClr val="FFFF00"/>
            </a:solidFill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SG" dirty="0"/>
                <a:t>Work offset number Zero (0) is for G54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205675587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6CCA27-6441-72E2-9A83-E0438B0C1C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62373" y="248007"/>
            <a:ext cx="9281615" cy="518615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Set </a:t>
            </a:r>
            <a:r>
              <a:rPr lang="en-SG" dirty="0" err="1"/>
              <a:t>Stickout</a:t>
            </a:r>
            <a:r>
              <a:rPr lang="en-SG" dirty="0"/>
              <a:t> length as picture show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17D9B66-6DF2-5E22-C1F5-AC1A86B8F5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5462" y="804614"/>
            <a:ext cx="4916306" cy="5805379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F88514A9-9B25-A37E-5215-609ABFC9CBC5}"/>
              </a:ext>
            </a:extLst>
          </p:cNvPr>
          <p:cNvSpPr/>
          <p:nvPr/>
        </p:nvSpPr>
        <p:spPr>
          <a:xfrm>
            <a:off x="4326978" y="2371162"/>
            <a:ext cx="1219003" cy="14021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4423126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439676-A45D-7F39-11E3-336D38D3CB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30629"/>
          </a:xfrm>
        </p:spPr>
        <p:txBody>
          <a:bodyPr>
            <a:normAutofit/>
          </a:bodyPr>
          <a:lstStyle/>
          <a:p>
            <a:pPr algn="ctr"/>
            <a:r>
              <a:rPr lang="en-SG" sz="2800" dirty="0"/>
              <a:t>Set Right Spindle </a:t>
            </a:r>
            <a:r>
              <a:rPr lang="en-SG" sz="2800" dirty="0" err="1"/>
              <a:t>Toolplane</a:t>
            </a:r>
            <a:r>
              <a:rPr lang="en-SG" sz="2800" dirty="0"/>
              <a:t> Origin Z as picture  below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826585D-243B-C651-2BB5-469E84D108B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1654" y="981638"/>
            <a:ext cx="4713281" cy="5686676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A88F89F8-61F2-DA9A-CCDA-5E2229A865D4}"/>
              </a:ext>
            </a:extLst>
          </p:cNvPr>
          <p:cNvSpPr txBox="1"/>
          <p:nvPr/>
        </p:nvSpPr>
        <p:spPr>
          <a:xfrm>
            <a:off x="6464049" y="4003535"/>
            <a:ext cx="1896256" cy="923330"/>
          </a:xfrm>
          <a:prstGeom prst="rect">
            <a:avLst/>
          </a:prstGeom>
          <a:solidFill>
            <a:srgbClr val="FFFF00"/>
          </a:solidFill>
          <a:ln w="3175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SG" dirty="0"/>
              <a:t>Work offset number one(1) is for G55</a:t>
            </a:r>
          </a:p>
        </p:txBody>
      </p:sp>
    </p:spTree>
    <p:extLst>
      <p:ext uri="{BB962C8B-B14F-4D97-AF65-F5344CB8AC3E}">
        <p14:creationId xmlns:p14="http://schemas.microsoft.com/office/powerpoint/2010/main" val="427678404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D2B20F-22D5-C361-2E15-623267F8AA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73075"/>
            <a:ext cx="10515600" cy="600075"/>
          </a:xfrm>
        </p:spPr>
        <p:txBody>
          <a:bodyPr>
            <a:normAutofit/>
          </a:bodyPr>
          <a:lstStyle/>
          <a:p>
            <a:pPr algn="ctr"/>
            <a:r>
              <a:rPr lang="en-SG" sz="2800" dirty="0"/>
              <a:t>Set the Right Spindle pickoff point value  as show on the picture 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C2496EE-5649-5045-BB4A-659A4A4886E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28836" y="1219548"/>
            <a:ext cx="4832513" cy="5400267"/>
          </a:xfrm>
          <a:prstGeom prst="rect">
            <a:avLst/>
          </a:prstGeom>
        </p:spPr>
      </p:pic>
      <p:pic>
        <p:nvPicPr>
          <p:cNvPr id="9" name="Picture 8" descr="A screenshot of a computer&#10;&#10;AI-generated content may be incorrect.">
            <a:extLst>
              <a:ext uri="{FF2B5EF4-FFF2-40B4-BE49-F238E27FC236}">
                <a16:creationId xmlns:a16="http://schemas.microsoft.com/office/drawing/2014/main" id="{ED600CED-954B-4C32-AE73-DE90F9451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61349" y="2191981"/>
            <a:ext cx="3753936" cy="3446471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C9DA6DE3-F77E-54F5-557C-98C498F6C079}"/>
              </a:ext>
            </a:extLst>
          </p:cNvPr>
          <p:cNvSpPr/>
          <p:nvPr/>
        </p:nvSpPr>
        <p:spPr>
          <a:xfrm>
            <a:off x="5060951" y="1168400"/>
            <a:ext cx="2641600" cy="2590800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79B589D7-A3D9-975D-C509-EF1E9676A5E0}"/>
              </a:ext>
            </a:extLst>
          </p:cNvPr>
          <p:cNvSpPr/>
          <p:nvPr/>
        </p:nvSpPr>
        <p:spPr>
          <a:xfrm>
            <a:off x="7861300" y="1546225"/>
            <a:ext cx="4153985" cy="4425949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3A59E7B-5CDC-BCEF-454F-0CEA48BD28EC}"/>
              </a:ext>
            </a:extLst>
          </p:cNvPr>
          <p:cNvCxnSpPr>
            <a:cxnSpLocks/>
          </p:cNvCxnSpPr>
          <p:nvPr/>
        </p:nvCxnSpPr>
        <p:spPr>
          <a:xfrm>
            <a:off x="7651750" y="2889250"/>
            <a:ext cx="304800" cy="28575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9118501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BDC62E-B253-233D-BC40-9C30DD13DE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457835"/>
          </a:xfrm>
        </p:spPr>
        <p:txBody>
          <a:bodyPr>
            <a:normAutofit fontScale="90000"/>
          </a:bodyPr>
          <a:lstStyle/>
          <a:p>
            <a:pPr algn="ctr"/>
            <a:r>
              <a:rPr lang="en-SG" dirty="0"/>
              <a:t>Prepare  Tooling and ready to  Cut </a:t>
            </a:r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6454CEA-632E-CDF8-81AB-A41C3E992D8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55608" y="822960"/>
            <a:ext cx="4780920" cy="5743172"/>
          </a:xfrm>
          <a:prstGeom prst="rect">
            <a:avLst/>
          </a:prstGeom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CDEAC67A-5E8B-644D-E81F-8E6D61661CBA}"/>
              </a:ext>
            </a:extLst>
          </p:cNvPr>
          <p:cNvSpPr/>
          <p:nvPr/>
        </p:nvSpPr>
        <p:spPr>
          <a:xfrm>
            <a:off x="5724307" y="2190389"/>
            <a:ext cx="2159512" cy="214714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511CDF5-0C57-A287-9FB2-E220E56683CE}"/>
              </a:ext>
            </a:extLst>
          </p:cNvPr>
          <p:cNvSpPr/>
          <p:nvPr/>
        </p:nvSpPr>
        <p:spPr>
          <a:xfrm>
            <a:off x="5724308" y="2581402"/>
            <a:ext cx="2159512" cy="214715"/>
          </a:xfrm>
          <a:prstGeom prst="rect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118354F-659D-8EDA-25AF-302DBF017E20}"/>
              </a:ext>
            </a:extLst>
          </p:cNvPr>
          <p:cNvSpPr txBox="1"/>
          <p:nvPr/>
        </p:nvSpPr>
        <p:spPr>
          <a:xfrm>
            <a:off x="8329492" y="2343631"/>
            <a:ext cx="3642232" cy="646331"/>
          </a:xfrm>
          <a:prstGeom prst="rect">
            <a:avLst/>
          </a:prstGeom>
          <a:solidFill>
            <a:srgbClr val="FFFF00"/>
          </a:solidFill>
          <a:ln w="412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Check  items needed  accordingly from the picture</a:t>
            </a:r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545F854-722E-6D31-AB42-585E10872F46}"/>
              </a:ext>
            </a:extLst>
          </p:cNvPr>
          <p:cNvSpPr/>
          <p:nvPr/>
        </p:nvSpPr>
        <p:spPr>
          <a:xfrm>
            <a:off x="3550024" y="2036708"/>
            <a:ext cx="1275550" cy="214714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42098149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alpha val="99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14B873-3AC0-6915-13ED-828B933251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682" y="423165"/>
            <a:ext cx="12424442" cy="464751"/>
          </a:xfrm>
        </p:spPr>
        <p:txBody>
          <a:bodyPr>
            <a:noAutofit/>
          </a:bodyPr>
          <a:lstStyle/>
          <a:p>
            <a:r>
              <a:rPr lang="en-GB" sz="3600" dirty="0"/>
              <a:t>Select Tool library (CET_AND_PET_MT.TOOLDB)  for this project </a:t>
            </a:r>
            <a:endParaRPr lang="en-SG" sz="36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7E7C8CA-7371-A57A-F8B7-0A730508D484}"/>
              </a:ext>
            </a:extLst>
          </p:cNvPr>
          <p:cNvGrpSpPr/>
          <p:nvPr/>
        </p:nvGrpSpPr>
        <p:grpSpPr>
          <a:xfrm>
            <a:off x="1396182" y="968480"/>
            <a:ext cx="9276690" cy="5597234"/>
            <a:chOff x="1457655" y="968480"/>
            <a:chExt cx="9276690" cy="559723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C5E439ED-CAAE-B0D6-3C30-99941E2312B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57655" y="968480"/>
              <a:ext cx="9276690" cy="559723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F57B52C-4C4E-76FC-7757-49EDE1BF2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247172" y="1826930"/>
              <a:ext cx="3848637" cy="208626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0E20E464-A307-A9C2-0009-0BAF8436AC1B}"/>
                </a:ext>
              </a:extLst>
            </p:cNvPr>
            <p:cNvSpPr/>
            <p:nvPr/>
          </p:nvSpPr>
          <p:spPr>
            <a:xfrm>
              <a:off x="3648315" y="4205380"/>
              <a:ext cx="491779" cy="659093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C31A041A-5D5D-2513-8A8D-762BCB599C93}"/>
                </a:ext>
              </a:extLst>
            </p:cNvPr>
            <p:cNvSpPr/>
            <p:nvPr/>
          </p:nvSpPr>
          <p:spPr>
            <a:xfrm>
              <a:off x="4247172" y="2189949"/>
              <a:ext cx="3848637" cy="1459966"/>
            </a:xfrm>
            <a:prstGeom prst="rect">
              <a:avLst/>
            </a:prstGeom>
            <a:noFill/>
            <a:ln w="412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2" name="Straight Arrow Connector 11">
              <a:extLst>
                <a:ext uri="{FF2B5EF4-FFF2-40B4-BE49-F238E27FC236}">
                  <a16:creationId xmlns:a16="http://schemas.microsoft.com/office/drawing/2014/main" id="{538457EC-A164-AD72-98C7-7189DCBF90F7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4070938" y="3649915"/>
              <a:ext cx="484094" cy="555465"/>
            </a:xfrm>
            <a:prstGeom prst="straightConnector1">
              <a:avLst/>
            </a:prstGeom>
            <a:ln w="444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38230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435D8C09-523B-1C44-D327-0D5BB1B991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681" y="365125"/>
            <a:ext cx="11940987" cy="1325563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Select Tool library (CET_AND_PET_MT.TOOLDB)  for this project </a:t>
            </a:r>
            <a:endParaRPr lang="en-SG" sz="36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8F955B-645A-62C4-C49E-F8BF97C324B0}"/>
              </a:ext>
            </a:extLst>
          </p:cNvPr>
          <p:cNvGrpSpPr/>
          <p:nvPr/>
        </p:nvGrpSpPr>
        <p:grpSpPr>
          <a:xfrm>
            <a:off x="3120378" y="1690688"/>
            <a:ext cx="6599926" cy="5048916"/>
            <a:chOff x="3112694" y="1690688"/>
            <a:chExt cx="6599926" cy="504891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9F542BEC-8C98-8B55-0DD4-5338D89887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12694" y="1690688"/>
              <a:ext cx="6599926" cy="4989799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A6E1298-479A-EEB3-1552-A8B7950805AD}"/>
                </a:ext>
              </a:extLst>
            </p:cNvPr>
            <p:cNvSpPr/>
            <p:nvPr/>
          </p:nvSpPr>
          <p:spPr>
            <a:xfrm>
              <a:off x="4488011" y="3156755"/>
              <a:ext cx="2635090" cy="44978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E750542-58E3-2E3C-B068-BE1576AE0ACA}"/>
                </a:ext>
              </a:extLst>
            </p:cNvPr>
            <p:cNvSpPr/>
            <p:nvPr/>
          </p:nvSpPr>
          <p:spPr>
            <a:xfrm>
              <a:off x="4495694" y="3127402"/>
              <a:ext cx="2635090" cy="44978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AA114392-B218-9848-9CFD-AFD5905EFC69}"/>
                </a:ext>
              </a:extLst>
            </p:cNvPr>
            <p:cNvSpPr/>
            <p:nvPr/>
          </p:nvSpPr>
          <p:spPr>
            <a:xfrm>
              <a:off x="6777851" y="6246146"/>
              <a:ext cx="1974263" cy="493458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pic>
        <p:nvPicPr>
          <p:cNvPr id="2" name="Picture 1">
            <a:extLst>
              <a:ext uri="{FF2B5EF4-FFF2-40B4-BE49-F238E27FC236}">
                <a16:creationId xmlns:a16="http://schemas.microsoft.com/office/drawing/2014/main" id="{E2D9428A-FCD3-5E20-9680-3CA32EEFA2F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0672" y="715278"/>
            <a:ext cx="3439835" cy="96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995513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F3AB49-5C5C-A3D4-B3F7-CF256A0388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21338" y="187617"/>
            <a:ext cx="10515600" cy="818216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Drag T3434R0.4 Lathe Tool to Tool Manager window</a:t>
            </a:r>
            <a:endParaRPr lang="en-SG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FA44B69-A924-9823-5C9F-B12E06AD84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727" y="812032"/>
            <a:ext cx="9706935" cy="52339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7B2A68E-5003-84D2-B669-90DB8DB96AC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7932" y="4367731"/>
            <a:ext cx="1533739" cy="1524213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D872685E-D326-9D00-76DA-B92086C63863}"/>
              </a:ext>
            </a:extLst>
          </p:cNvPr>
          <p:cNvSpPr/>
          <p:nvPr/>
        </p:nvSpPr>
        <p:spPr>
          <a:xfrm>
            <a:off x="4353258" y="4405508"/>
            <a:ext cx="1720690" cy="1524213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BAA15CE-54C8-C97C-6DC2-89F04447600E}"/>
              </a:ext>
            </a:extLst>
          </p:cNvPr>
          <p:cNvCxnSpPr>
            <a:stCxn id="7" idx="0"/>
          </p:cNvCxnSpPr>
          <p:nvPr/>
        </p:nvCxnSpPr>
        <p:spPr>
          <a:xfrm flipH="1" flipV="1">
            <a:off x="3195236" y="2158715"/>
            <a:ext cx="2069566" cy="2209016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F762A0E1-7D11-639A-BAD6-BCB3D86F93C5}"/>
              </a:ext>
            </a:extLst>
          </p:cNvPr>
          <p:cNvSpPr txBox="1"/>
          <p:nvPr/>
        </p:nvSpPr>
        <p:spPr>
          <a:xfrm>
            <a:off x="4664208" y="2120938"/>
            <a:ext cx="24896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00" dirty="0"/>
              <a:t>Tool Manager window</a:t>
            </a:r>
            <a:endParaRPr lang="en-SG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4B7F594B-4B18-BA31-51C9-0BBDE90C6DC3}"/>
              </a:ext>
            </a:extLst>
          </p:cNvPr>
          <p:cNvSpPr txBox="1"/>
          <p:nvPr/>
        </p:nvSpPr>
        <p:spPr>
          <a:xfrm>
            <a:off x="2620255" y="3214849"/>
            <a:ext cx="2942985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1800" dirty="0"/>
              <a:t>Drag T3434R0.4 Lathe Tool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7874657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8655EA-99E4-7264-2AA9-BE2BFEAE7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9564" y="249519"/>
            <a:ext cx="10515600" cy="772112"/>
          </a:xfrm>
        </p:spPr>
        <p:txBody>
          <a:bodyPr/>
          <a:lstStyle/>
          <a:p>
            <a:r>
              <a:rPr lang="en-GB" dirty="0"/>
              <a:t>Right click and select Load tool on machine </a:t>
            </a:r>
            <a:endParaRPr lang="en-SG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62EDECC0-3E83-EA5C-487F-6E24FAFCDF25}"/>
              </a:ext>
            </a:extLst>
          </p:cNvPr>
          <p:cNvGrpSpPr/>
          <p:nvPr/>
        </p:nvGrpSpPr>
        <p:grpSpPr>
          <a:xfrm>
            <a:off x="3187171" y="1137237"/>
            <a:ext cx="6656076" cy="5471244"/>
            <a:chOff x="3187171" y="1137237"/>
            <a:chExt cx="6656076" cy="547124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A593D71-848F-5FDC-89F9-C8822BE169B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187171" y="1137237"/>
              <a:ext cx="3513307" cy="5471244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741BA96C-61D2-29C0-D910-3171655B0BD2}"/>
                </a:ext>
              </a:extLst>
            </p:cNvPr>
            <p:cNvSpPr/>
            <p:nvPr/>
          </p:nvSpPr>
          <p:spPr>
            <a:xfrm>
              <a:off x="3742658" y="4510528"/>
              <a:ext cx="2635090" cy="33041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60E54D54-B7D6-5BEA-5997-03352F61E8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16298" y="3650356"/>
              <a:ext cx="3724795" cy="571580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5F65F355-9214-76B3-8CB6-46FB005F9124}"/>
                </a:ext>
              </a:extLst>
            </p:cNvPr>
            <p:cNvSpPr/>
            <p:nvPr/>
          </p:nvSpPr>
          <p:spPr>
            <a:xfrm>
              <a:off x="6016298" y="3650356"/>
              <a:ext cx="3826949" cy="645019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8909D629-2F2C-859B-42C9-131028EA32E2}"/>
                </a:ext>
              </a:extLst>
            </p:cNvPr>
            <p:cNvCxnSpPr>
              <a:endCxn id="7" idx="6"/>
            </p:cNvCxnSpPr>
            <p:nvPr/>
          </p:nvCxnSpPr>
          <p:spPr>
            <a:xfrm flipH="1">
              <a:off x="6377748" y="4295375"/>
              <a:ext cx="322730" cy="380360"/>
            </a:xfrm>
            <a:prstGeom prst="straightConnector1">
              <a:avLst/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5E847B4-48B8-A637-CAEA-0C641B77B7C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39900" y="1808257"/>
              <a:ext cx="805515" cy="79392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3614699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69B08A-F060-A701-A6EE-7AC45FC244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0632" y="317509"/>
            <a:ext cx="10293403" cy="510855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Drag HSK A63 Axial LIU 25mm holder to Tool Spindle location  </a:t>
            </a:r>
            <a:endParaRPr lang="en-SG" sz="32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B79708C-D957-F186-4352-6E67F18FBC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40672" y="715278"/>
            <a:ext cx="3439835" cy="961529"/>
          </a:xfrm>
          <a:prstGeom prst="rect">
            <a:avLst/>
          </a:prstGeom>
        </p:spPr>
      </p:pic>
      <p:grpSp>
        <p:nvGrpSpPr>
          <p:cNvPr id="32" name="Group 31">
            <a:extLst>
              <a:ext uri="{FF2B5EF4-FFF2-40B4-BE49-F238E27FC236}">
                <a16:creationId xmlns:a16="http://schemas.microsoft.com/office/drawing/2014/main" id="{DA773175-5406-74BB-86E5-25ACFC09E9CA}"/>
              </a:ext>
            </a:extLst>
          </p:cNvPr>
          <p:cNvGrpSpPr/>
          <p:nvPr/>
        </p:nvGrpSpPr>
        <p:grpSpPr>
          <a:xfrm>
            <a:off x="678996" y="812191"/>
            <a:ext cx="11165759" cy="5636090"/>
            <a:chOff x="640576" y="812191"/>
            <a:chExt cx="11165759" cy="5636090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324C417-D444-FC94-95C2-83772070257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0576" y="812191"/>
              <a:ext cx="9098148" cy="5636090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8CD17F-C63C-C14E-834F-FA603CCC038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6559216" y="2236353"/>
              <a:ext cx="2762636" cy="342948"/>
            </a:xfrm>
            <a:prstGeom prst="rect">
              <a:avLst/>
            </a:prstGeom>
          </p:spPr>
        </p:pic>
        <p:cxnSp>
          <p:nvCxnSpPr>
            <p:cNvPr id="4" name="Straight Arrow Connector 3">
              <a:extLst>
                <a:ext uri="{FF2B5EF4-FFF2-40B4-BE49-F238E27FC236}">
                  <a16:creationId xmlns:a16="http://schemas.microsoft.com/office/drawing/2014/main" id="{78EE1D7A-B67C-1A84-BA91-998EF6E87E21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09799" y="2579301"/>
              <a:ext cx="1737450" cy="3558850"/>
            </a:xfrm>
            <a:prstGeom prst="straightConnector1">
              <a:avLst/>
            </a:prstGeom>
            <a:ln w="412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" name="TextBox 2">
              <a:extLst>
                <a:ext uri="{FF2B5EF4-FFF2-40B4-BE49-F238E27FC236}">
                  <a16:creationId xmlns:a16="http://schemas.microsoft.com/office/drawing/2014/main" id="{568C1202-AB93-A23F-BC0E-30FD099C390D}"/>
                </a:ext>
              </a:extLst>
            </p:cNvPr>
            <p:cNvSpPr txBox="1"/>
            <p:nvPr/>
          </p:nvSpPr>
          <p:spPr>
            <a:xfrm>
              <a:off x="5755656" y="3682260"/>
              <a:ext cx="5570032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GB" sz="1800" dirty="0"/>
                <a:t>Drag </a:t>
              </a:r>
              <a:r>
                <a:rPr lang="en-GB" dirty="0"/>
                <a:t>HSK A63 Axial LIU 25mm to Tool Spindle location</a:t>
              </a:r>
              <a:endParaRPr lang="en-SG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103BB1B-6694-DE30-06F6-7BD95EE02932}"/>
                </a:ext>
              </a:extLst>
            </p:cNvPr>
            <p:cNvSpPr/>
            <p:nvPr/>
          </p:nvSpPr>
          <p:spPr>
            <a:xfrm>
              <a:off x="6201747" y="1436914"/>
              <a:ext cx="3035559" cy="1287625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98F8F363-92FA-54C1-D096-9AC6B3097E57}"/>
                </a:ext>
              </a:extLst>
            </p:cNvPr>
            <p:cNvSpPr/>
            <p:nvPr/>
          </p:nvSpPr>
          <p:spPr>
            <a:xfrm>
              <a:off x="8540672" y="828364"/>
              <a:ext cx="3265663" cy="799439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56C6D568-0926-1EDE-A363-BB4A1451C614}"/>
                </a:ext>
              </a:extLst>
            </p:cNvPr>
            <p:cNvCxnSpPr>
              <a:cxnSpLocks/>
            </p:cNvCxnSpPr>
            <p:nvPr/>
          </p:nvCxnSpPr>
          <p:spPr>
            <a:xfrm flipH="1" flipV="1">
              <a:off x="6720254" y="1627803"/>
              <a:ext cx="302587" cy="608550"/>
            </a:xfrm>
            <a:prstGeom prst="straightConnector1">
              <a:avLst/>
            </a:prstGeom>
            <a:ln w="412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2386BD83-8D6B-4E05-1A26-1A1F2CD340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9237306" y="1676807"/>
              <a:ext cx="1119674" cy="559546"/>
            </a:xfrm>
            <a:prstGeom prst="curvedConnector3">
              <a:avLst>
                <a:gd name="adj1" fmla="val 121666"/>
              </a:avLst>
            </a:prstGeom>
            <a:ln w="508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6E6A1C20-7D30-497C-152F-0D3CC8B5D0B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47087" y="2200657"/>
              <a:ext cx="2169079" cy="26864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6446404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92C79-4340-CBC2-2C15-47C81D9A2C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25900"/>
          </a:xfrm>
        </p:spPr>
        <p:txBody>
          <a:bodyPr>
            <a:normAutofit fontScale="90000"/>
          </a:bodyPr>
          <a:lstStyle/>
          <a:p>
            <a:r>
              <a:rPr lang="en-GB" sz="4400" dirty="0"/>
              <a:t>Drag T34 OD Tool to Tool Index Floating location </a:t>
            </a:r>
            <a:endParaRPr lang="en-SG" dirty="0"/>
          </a:p>
        </p:txBody>
      </p:sp>
      <p:grpSp>
        <p:nvGrpSpPr>
          <p:cNvPr id="27" name="Group 26">
            <a:extLst>
              <a:ext uri="{FF2B5EF4-FFF2-40B4-BE49-F238E27FC236}">
                <a16:creationId xmlns:a16="http://schemas.microsoft.com/office/drawing/2014/main" id="{C9E8EBA2-7C4F-3769-E22B-84A13F86D0CF}"/>
              </a:ext>
            </a:extLst>
          </p:cNvPr>
          <p:cNvGrpSpPr/>
          <p:nvPr/>
        </p:nvGrpSpPr>
        <p:grpSpPr>
          <a:xfrm>
            <a:off x="232974" y="1364653"/>
            <a:ext cx="11838643" cy="3433705"/>
            <a:chOff x="232974" y="1364653"/>
            <a:chExt cx="11838643" cy="343370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E025980-A30B-A49D-DBC7-76676BB71C0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2974" y="1418026"/>
              <a:ext cx="10135700" cy="3380332"/>
            </a:xfrm>
            <a:prstGeom prst="rect">
              <a:avLst/>
            </a:prstGeom>
          </p:spPr>
        </p:pic>
        <p:cxnSp>
          <p:nvCxnSpPr>
            <p:cNvPr id="13" name="Connector: Curved 12">
              <a:extLst>
                <a:ext uri="{FF2B5EF4-FFF2-40B4-BE49-F238E27FC236}">
                  <a16:creationId xmlns:a16="http://schemas.microsoft.com/office/drawing/2014/main" id="{ACE4BB3C-1F42-C9D0-7D47-1D393D1AD7AF}"/>
                </a:ext>
              </a:extLst>
            </p:cNvPr>
            <p:cNvCxnSpPr>
              <a:cxnSpLocks/>
            </p:cNvCxnSpPr>
            <p:nvPr/>
          </p:nvCxnSpPr>
          <p:spPr>
            <a:xfrm rot="5400000" flipH="1" flipV="1">
              <a:off x="1867221" y="3503919"/>
              <a:ext cx="12700" cy="12700"/>
            </a:xfrm>
            <a:prstGeom prst="curvedConnector3">
              <a:avLst>
                <a:gd name="adj1" fmla="val 1800000"/>
              </a:avLst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1FDA5365-BF53-6D82-45C8-746BDA7EF89F}"/>
                </a:ext>
              </a:extLst>
            </p:cNvPr>
            <p:cNvCxnSpPr/>
            <p:nvPr/>
          </p:nvCxnSpPr>
          <p:spPr>
            <a:xfrm flipV="1">
              <a:off x="7184572" y="2850777"/>
              <a:ext cx="1229446" cy="453358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FDEB76BD-3B58-C173-7840-57D1A43061EF}"/>
                </a:ext>
              </a:extLst>
            </p:cNvPr>
            <p:cNvSpPr/>
            <p:nvPr/>
          </p:nvSpPr>
          <p:spPr>
            <a:xfrm>
              <a:off x="450693" y="3241931"/>
              <a:ext cx="6733880" cy="250464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CB5128C8-CBEE-E4BD-D4F2-74603E17B64A}"/>
                </a:ext>
              </a:extLst>
            </p:cNvPr>
            <p:cNvSpPr/>
            <p:nvPr/>
          </p:nvSpPr>
          <p:spPr>
            <a:xfrm>
              <a:off x="7854392" y="2133955"/>
              <a:ext cx="3035559" cy="909846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C9A8340A-67DB-A804-CD58-6138326B19DD}"/>
                </a:ext>
              </a:extLst>
            </p:cNvPr>
            <p:cNvSpPr txBox="1"/>
            <p:nvPr/>
          </p:nvSpPr>
          <p:spPr>
            <a:xfrm>
              <a:off x="7402292" y="3157301"/>
              <a:ext cx="3487659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GB" sz="1800" dirty="0"/>
                <a:t>Drag </a:t>
              </a:r>
              <a:r>
                <a:rPr lang="en-GB" dirty="0"/>
                <a:t>T</a:t>
              </a:r>
              <a:r>
                <a:rPr lang="en-GB" sz="1800" dirty="0"/>
                <a:t>34</a:t>
              </a:r>
              <a:r>
                <a:rPr lang="en-GB" dirty="0"/>
                <a:t> to Index Floating location</a:t>
              </a:r>
              <a:endParaRPr lang="en-SG" dirty="0"/>
            </a:p>
          </p:txBody>
        </p:sp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152F3750-9A87-3715-06E0-7DEB5CA7D54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958798" y="1386573"/>
              <a:ext cx="3035560" cy="854228"/>
            </a:xfrm>
            <a:prstGeom prst="rect">
              <a:avLst/>
            </a:prstGeom>
          </p:spPr>
        </p:pic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ACA77D9B-8FDE-0E36-EFCF-C6E65A147D8D}"/>
                </a:ext>
              </a:extLst>
            </p:cNvPr>
            <p:cNvSpPr/>
            <p:nvPr/>
          </p:nvSpPr>
          <p:spPr>
            <a:xfrm>
              <a:off x="8958798" y="1364653"/>
              <a:ext cx="3112819" cy="909846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24" name="Connector: Curved 23">
              <a:extLst>
                <a:ext uri="{FF2B5EF4-FFF2-40B4-BE49-F238E27FC236}">
                  <a16:creationId xmlns:a16="http://schemas.microsoft.com/office/drawing/2014/main" id="{A2E64F44-ED64-5CD1-6909-A8AB2504CC9E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10889951" y="2274499"/>
              <a:ext cx="759044" cy="576278"/>
            </a:xfrm>
            <a:prstGeom prst="curvedConnector3">
              <a:avLst>
                <a:gd name="adj1" fmla="val 118839"/>
              </a:avLst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7154787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F1979-841D-0A0C-810C-7744493F44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004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Right click on Tool Spindle location  and select view all to see the whole tooling assembly</a:t>
            </a:r>
            <a:endParaRPr lang="en-SG" dirty="0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5701C3-E0B7-FC72-5975-EFF20B589EAE}"/>
              </a:ext>
            </a:extLst>
          </p:cNvPr>
          <p:cNvGrpSpPr/>
          <p:nvPr/>
        </p:nvGrpSpPr>
        <p:grpSpPr>
          <a:xfrm>
            <a:off x="680972" y="1308464"/>
            <a:ext cx="10737503" cy="5147831"/>
            <a:chOff x="680972" y="1308464"/>
            <a:chExt cx="10737503" cy="514783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1E60273-EE4A-34DE-6E0B-B885C7B1E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80972" y="1308464"/>
              <a:ext cx="5676630" cy="514783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E49B51C6-F7F8-E49B-C0BA-C37B978CEFE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626200" y="2770028"/>
              <a:ext cx="4792275" cy="2787814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08E167FC-B278-51B2-B880-29817FC98966}"/>
                </a:ext>
              </a:extLst>
            </p:cNvPr>
            <p:cNvSpPr/>
            <p:nvPr/>
          </p:nvSpPr>
          <p:spPr>
            <a:xfrm>
              <a:off x="1167189" y="2315105"/>
              <a:ext cx="1184126" cy="297466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6D83EFB7-DD94-7691-F9E6-6BC5A5B882AE}"/>
                </a:ext>
              </a:extLst>
            </p:cNvPr>
            <p:cNvSpPr/>
            <p:nvPr/>
          </p:nvSpPr>
          <p:spPr>
            <a:xfrm>
              <a:off x="2504210" y="4853205"/>
              <a:ext cx="1015077" cy="256678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69AC4760-1013-E0C3-BCD7-C43EE9E9522B}"/>
                </a:ext>
              </a:extLst>
            </p:cNvPr>
            <p:cNvSpPr/>
            <p:nvPr/>
          </p:nvSpPr>
          <p:spPr>
            <a:xfrm>
              <a:off x="6626200" y="2755262"/>
              <a:ext cx="4792275" cy="2787813"/>
            </a:xfrm>
            <a:prstGeom prst="rect">
              <a:avLst/>
            </a:prstGeom>
            <a:noFill/>
            <a:ln w="539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A7BDD869-813A-9CAF-37CF-8923A746A073}"/>
                </a:ext>
              </a:extLst>
            </p:cNvPr>
            <p:cNvSpPr txBox="1"/>
            <p:nvPr/>
          </p:nvSpPr>
          <p:spPr>
            <a:xfrm>
              <a:off x="2712463" y="2074689"/>
              <a:ext cx="2312895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Right click Tool Spindle </a:t>
              </a:r>
              <a:endParaRPr lang="en-SG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AAFE5DE-D67E-C6CA-FE02-14EF6130C726}"/>
                </a:ext>
              </a:extLst>
            </p:cNvPr>
            <p:cNvCxnSpPr>
              <a:endCxn id="8" idx="3"/>
            </p:cNvCxnSpPr>
            <p:nvPr/>
          </p:nvCxnSpPr>
          <p:spPr>
            <a:xfrm flipH="1">
              <a:off x="2351315" y="2315105"/>
              <a:ext cx="361148" cy="148733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4F12B484-EB63-F476-53E6-28A2B9B29B84}"/>
                </a:ext>
              </a:extLst>
            </p:cNvPr>
            <p:cNvSpPr txBox="1"/>
            <p:nvPr/>
          </p:nvSpPr>
          <p:spPr>
            <a:xfrm>
              <a:off x="3868910" y="5143625"/>
              <a:ext cx="1568824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r>
                <a:rPr lang="en-GB" dirty="0"/>
                <a:t>Select View all</a:t>
              </a:r>
              <a:endParaRPr lang="en-SG" dirty="0"/>
            </a:p>
          </p:txBody>
        </p: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C56CC77B-8538-E17A-BB0C-A57D210E454D}"/>
                </a:ext>
              </a:extLst>
            </p:cNvPr>
            <p:cNvCxnSpPr>
              <a:cxnSpLocks/>
              <a:stCxn id="16" idx="1"/>
            </p:cNvCxnSpPr>
            <p:nvPr/>
          </p:nvCxnSpPr>
          <p:spPr>
            <a:xfrm flipH="1" flipV="1">
              <a:off x="3519287" y="5163671"/>
              <a:ext cx="349623" cy="164620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E1444AC4-913D-248B-0C56-B550C06398B1}"/>
                </a:ext>
              </a:extLst>
            </p:cNvPr>
            <p:cNvSpPr txBox="1"/>
            <p:nvPr/>
          </p:nvSpPr>
          <p:spPr>
            <a:xfrm>
              <a:off x="6764509" y="2952631"/>
              <a:ext cx="2279599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Display Tool assembly on the Screen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6976639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02C4A7-F5E5-7B1A-6E40-8B3524DBFE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5863" y="211444"/>
            <a:ext cx="10580274" cy="879689"/>
          </a:xfrm>
        </p:spPr>
        <p:txBody>
          <a:bodyPr>
            <a:noAutofit/>
          </a:bodyPr>
          <a:lstStyle/>
          <a:p>
            <a:pPr algn="ctr"/>
            <a:r>
              <a:rPr lang="en-GB" sz="3200" dirty="0"/>
              <a:t>Select 'OK' and use this tool to practice your toolpaths for OD Facing, OD Roughing, and OD Finishing operations</a:t>
            </a:r>
            <a:endParaRPr lang="en-SG" sz="3200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BC0D2A9-1977-73ED-BF4F-1F6328910B92}"/>
              </a:ext>
            </a:extLst>
          </p:cNvPr>
          <p:cNvGrpSpPr/>
          <p:nvPr/>
        </p:nvGrpSpPr>
        <p:grpSpPr>
          <a:xfrm>
            <a:off x="1903710" y="1244814"/>
            <a:ext cx="10006542" cy="5613186"/>
            <a:chOff x="1903710" y="1244814"/>
            <a:chExt cx="10006542" cy="5613186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8FCB8CDA-27FE-189D-D48E-FA7019C0F0B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903710" y="1244814"/>
              <a:ext cx="7977957" cy="5147835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1665F205-63E7-34C0-286A-E76AB6B3689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014863" y="5111557"/>
              <a:ext cx="1629002" cy="1381318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C4039857-34DB-77A2-97D3-654FA88F30D3}"/>
                </a:ext>
              </a:extLst>
            </p:cNvPr>
            <p:cNvSpPr/>
            <p:nvPr/>
          </p:nvSpPr>
          <p:spPr>
            <a:xfrm>
              <a:off x="9074843" y="6024282"/>
              <a:ext cx="487655" cy="468593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F81B4991-78BA-C46F-9840-760CB2325DA7}"/>
                </a:ext>
              </a:extLst>
            </p:cNvPr>
            <p:cNvSpPr/>
            <p:nvPr/>
          </p:nvSpPr>
          <p:spPr>
            <a:xfrm>
              <a:off x="9789726" y="5111557"/>
              <a:ext cx="2120526" cy="1746443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9F31C836-07C8-1325-58F8-453E1D6F09EA}"/>
                </a:ext>
              </a:extLst>
            </p:cNvPr>
            <p:cNvCxnSpPr>
              <a:stCxn id="8" idx="0"/>
            </p:cNvCxnSpPr>
            <p:nvPr/>
          </p:nvCxnSpPr>
          <p:spPr>
            <a:xfrm flipV="1">
              <a:off x="9318671" y="5739973"/>
              <a:ext cx="471055" cy="284309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55DF5233-324E-64E2-BE84-ACE0AC8D7DC4}"/>
                </a:ext>
              </a:extLst>
            </p:cNvPr>
            <p:cNvSpPr txBox="1"/>
            <p:nvPr/>
          </p:nvSpPr>
          <p:spPr>
            <a:xfrm>
              <a:off x="9399271" y="4295375"/>
              <a:ext cx="2358999" cy="646331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OK and close the Tool Manager page</a:t>
              </a:r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429077635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2F98B-0CFF-C434-679A-132FB566E3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Change the name of Toolpath Group 1 to Left Spindle Lathe cutting WCS G54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E04044C-FF4F-DACC-1970-DBC75A6AF8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5979" y="1582577"/>
            <a:ext cx="6436476" cy="489334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A0AD60-D444-FFB0-5AF4-07D437EDBF8A}"/>
              </a:ext>
            </a:extLst>
          </p:cNvPr>
          <p:cNvSpPr/>
          <p:nvPr/>
        </p:nvSpPr>
        <p:spPr>
          <a:xfrm>
            <a:off x="1285979" y="4066549"/>
            <a:ext cx="1355105" cy="109784"/>
          </a:xfrm>
          <a:prstGeom prst="rect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8EB5319-5864-975B-21BC-EA9A98A21627}"/>
              </a:ext>
            </a:extLst>
          </p:cNvPr>
          <p:cNvSpPr txBox="1"/>
          <p:nvPr/>
        </p:nvSpPr>
        <p:spPr>
          <a:xfrm>
            <a:off x="740228" y="4813758"/>
            <a:ext cx="2905205" cy="923330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GB" dirty="0"/>
              <a:t>Left click on Toolpath Group 1 and key the  Left Spindle Lathe cutting WCS G54</a:t>
            </a:r>
            <a:endParaRPr lang="en-SG" dirty="0"/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D057BFC-1BCA-4E32-79E3-42B988E7FA52}"/>
              </a:ext>
            </a:extLst>
          </p:cNvPr>
          <p:cNvCxnSpPr>
            <a:stCxn id="7" idx="0"/>
            <a:endCxn id="6" idx="3"/>
          </p:cNvCxnSpPr>
          <p:nvPr/>
        </p:nvCxnSpPr>
        <p:spPr>
          <a:xfrm flipV="1">
            <a:off x="2192831" y="4121441"/>
            <a:ext cx="448253" cy="692317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5E526789-4E39-F345-8872-4F2731755C3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65566" y="2480590"/>
            <a:ext cx="4525006" cy="514422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EC354D36-7EF3-FBBD-83DD-3092F994A13C}"/>
              </a:ext>
            </a:extLst>
          </p:cNvPr>
          <p:cNvSpPr txBox="1"/>
          <p:nvPr/>
        </p:nvSpPr>
        <p:spPr>
          <a:xfrm>
            <a:off x="1311403" y="4282934"/>
            <a:ext cx="856004" cy="369332"/>
          </a:xfrm>
          <a:prstGeom prst="rect">
            <a:avLst/>
          </a:prstGeom>
          <a:solidFill>
            <a:srgbClr val="FFFF00"/>
          </a:solidFill>
          <a:ln w="28575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Before </a:t>
            </a:r>
            <a:endParaRPr lang="en-SG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881547F-CD28-D047-3E9A-AE3AA72A01FB}"/>
              </a:ext>
            </a:extLst>
          </p:cNvPr>
          <p:cNvSpPr txBox="1"/>
          <p:nvPr/>
        </p:nvSpPr>
        <p:spPr>
          <a:xfrm>
            <a:off x="9554262" y="3059668"/>
            <a:ext cx="711157" cy="369332"/>
          </a:xfrm>
          <a:prstGeom prst="rect">
            <a:avLst/>
          </a:prstGeom>
          <a:solidFill>
            <a:srgbClr val="FFFF00"/>
          </a:solidFill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dirty="0"/>
              <a:t>After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02825652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4E805-DC6A-DD47-105C-274AFC7EE9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07274" y="24987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 Create Lathe Toolpath operations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156759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026A9B-7BD3-63E4-0933-E6181712EE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Click on Turning and select Face</a:t>
            </a:r>
            <a:endParaRPr lang="en-SG" dirty="0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9BBB0A5D-6950-687D-AD1C-FA321D3E9B51}"/>
              </a:ext>
            </a:extLst>
          </p:cNvPr>
          <p:cNvGrpSpPr/>
          <p:nvPr/>
        </p:nvGrpSpPr>
        <p:grpSpPr>
          <a:xfrm>
            <a:off x="657497" y="1427379"/>
            <a:ext cx="10877006" cy="4557399"/>
            <a:chOff x="657497" y="1427379"/>
            <a:chExt cx="10877006" cy="45573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117972E9-7B90-F94A-2EB3-1D02B263CAA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57497" y="2604380"/>
              <a:ext cx="10877006" cy="3380398"/>
            </a:xfrm>
            <a:prstGeom prst="rect">
              <a:avLst/>
            </a:prstGeom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EF48A424-9B8D-2A23-628B-9C1D50FBFBDF}"/>
                </a:ext>
              </a:extLst>
            </p:cNvPr>
            <p:cNvSpPr/>
            <p:nvPr/>
          </p:nvSpPr>
          <p:spPr>
            <a:xfrm>
              <a:off x="3283131" y="3099878"/>
              <a:ext cx="548640" cy="67093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86A9ED1F-CBD5-E870-E323-8A9059BA7903}"/>
                </a:ext>
              </a:extLst>
            </p:cNvPr>
            <p:cNvSpPr/>
            <p:nvPr/>
          </p:nvSpPr>
          <p:spPr>
            <a:xfrm>
              <a:off x="8360231" y="2891246"/>
              <a:ext cx="687975" cy="287383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E57B2AA-3584-7816-6E4C-C4F44886542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977051" y="1427379"/>
              <a:ext cx="1352739" cy="724001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E9765EED-5FF1-666D-1391-2FD1491291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729206" y="4004399"/>
              <a:ext cx="1476581" cy="1057423"/>
            </a:xfrm>
            <a:prstGeom prst="rect">
              <a:avLst/>
            </a:prstGeom>
            <a:noFill/>
            <a:ln w="60325">
              <a:solidFill>
                <a:srgbClr val="FF0000"/>
              </a:solidFill>
            </a:ln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FB02A6AF-6AC9-E796-A848-271EADB87FA7}"/>
                </a:ext>
              </a:extLst>
            </p:cNvPr>
            <p:cNvSpPr txBox="1"/>
            <p:nvPr/>
          </p:nvSpPr>
          <p:spPr>
            <a:xfrm>
              <a:off x="3729206" y="4042993"/>
              <a:ext cx="147658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GB" dirty="0"/>
                <a:t>2.)</a:t>
              </a:r>
              <a:endParaRPr lang="en-SG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8A3C9910-2E93-3E67-E092-24B4AC1D380E}"/>
                </a:ext>
              </a:extLst>
            </p:cNvPr>
            <p:cNvSpPr txBox="1"/>
            <p:nvPr/>
          </p:nvSpPr>
          <p:spPr>
            <a:xfrm>
              <a:off x="7894320" y="1514916"/>
              <a:ext cx="1619795" cy="923330"/>
            </a:xfrm>
            <a:prstGeom prst="rect">
              <a:avLst/>
            </a:prstGeom>
            <a:noFill/>
            <a:ln w="31750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dirty="0"/>
                <a:t>1.)</a:t>
              </a:r>
            </a:p>
            <a:p>
              <a:endParaRPr lang="en-GB" dirty="0"/>
            </a:p>
            <a:p>
              <a:endParaRPr lang="en-SG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8AED5760-DFAE-514C-5A20-D14CF3C19C7F}"/>
                </a:ext>
              </a:extLst>
            </p:cNvPr>
            <p:cNvCxnSpPr>
              <a:stCxn id="8" idx="0"/>
            </p:cNvCxnSpPr>
            <p:nvPr/>
          </p:nvCxnSpPr>
          <p:spPr>
            <a:xfrm flipH="1" flipV="1">
              <a:off x="8499566" y="2438246"/>
              <a:ext cx="204653" cy="4530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>
              <a:extLst>
                <a:ext uri="{FF2B5EF4-FFF2-40B4-BE49-F238E27FC236}">
                  <a16:creationId xmlns:a16="http://schemas.microsoft.com/office/drawing/2014/main" id="{AE742729-FC37-BEF7-242A-A1A286F7EA38}"/>
                </a:ext>
              </a:extLst>
            </p:cNvPr>
            <p:cNvCxnSpPr>
              <a:cxnSpLocks/>
              <a:endCxn id="7" idx="6"/>
            </p:cNvCxnSpPr>
            <p:nvPr/>
          </p:nvCxnSpPr>
          <p:spPr>
            <a:xfrm flipH="1" flipV="1">
              <a:off x="3831771" y="3435345"/>
              <a:ext cx="496389" cy="492221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54034404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>
            <a:extLst>
              <a:ext uri="{FF2B5EF4-FFF2-40B4-BE49-F238E27FC236}">
                <a16:creationId xmlns:a16="http://schemas.microsoft.com/office/drawing/2014/main" id="{676F3952-D284-87AB-223D-03072E53F8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7869" y="13870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Select Tool Angle to change for left spindle cutting and the rest of the parameters follow accordingly as picture show</a:t>
            </a:r>
            <a:endParaRPr lang="en-SG" sz="3200" dirty="0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9A2B320-8FED-2A2C-B289-600622A071CD}"/>
              </a:ext>
            </a:extLst>
          </p:cNvPr>
          <p:cNvGrpSpPr/>
          <p:nvPr/>
        </p:nvGrpSpPr>
        <p:grpSpPr>
          <a:xfrm>
            <a:off x="2850344" y="1377798"/>
            <a:ext cx="6340250" cy="5226063"/>
            <a:chOff x="2850344" y="1377798"/>
            <a:chExt cx="6340250" cy="5226063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F45B0D0B-BC5D-85DC-9954-E2DE3CE3794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850344" y="1377798"/>
              <a:ext cx="6340250" cy="5226063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C336025-225D-BB80-D39A-8B6A68200590}"/>
                </a:ext>
              </a:extLst>
            </p:cNvPr>
            <p:cNvSpPr/>
            <p:nvPr/>
          </p:nvSpPr>
          <p:spPr>
            <a:xfrm>
              <a:off x="7731936" y="2120011"/>
              <a:ext cx="841292" cy="454288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</p:spTree>
    <p:extLst>
      <p:ext uri="{BB962C8B-B14F-4D97-AF65-F5344CB8AC3E}">
        <p14:creationId xmlns:p14="http://schemas.microsoft.com/office/powerpoint/2010/main" val="427774247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F7388-51B9-3579-8469-B6B2E2D10C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1377" y="245025"/>
            <a:ext cx="10515600" cy="72487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Change Tool Angle parameters as picture show</a:t>
            </a:r>
            <a:endParaRPr lang="en-SG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BC366B74-5533-3299-31DC-9FF3BC7227A1}"/>
              </a:ext>
            </a:extLst>
          </p:cNvPr>
          <p:cNvGrpSpPr/>
          <p:nvPr/>
        </p:nvGrpSpPr>
        <p:grpSpPr>
          <a:xfrm>
            <a:off x="1950720" y="969903"/>
            <a:ext cx="8482149" cy="5593975"/>
            <a:chOff x="1950720" y="969903"/>
            <a:chExt cx="8482149" cy="559397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CE174E8-8051-037F-061C-7CDC54A42B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357888" y="1090003"/>
              <a:ext cx="3074981" cy="5402872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653EA764-0D29-6D97-905E-5A451F2C0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968215" y="969903"/>
              <a:ext cx="3074981" cy="5522972"/>
            </a:xfrm>
            <a:prstGeom prst="rect">
              <a:avLst/>
            </a:prstGeom>
          </p:spPr>
        </p:pic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19AD5F5B-7CA2-751F-0E42-087A0B5E2971}"/>
                </a:ext>
              </a:extLst>
            </p:cNvPr>
            <p:cNvSpPr txBox="1"/>
            <p:nvPr/>
          </p:nvSpPr>
          <p:spPr>
            <a:xfrm>
              <a:off x="1950720" y="6008914"/>
              <a:ext cx="845586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Before</a:t>
              </a:r>
              <a:endParaRPr lang="en-SG" dirty="0"/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2EF2DCA1-4659-1DD4-23F2-6768401E2518}"/>
                </a:ext>
              </a:extLst>
            </p:cNvPr>
            <p:cNvSpPr txBox="1"/>
            <p:nvPr/>
          </p:nvSpPr>
          <p:spPr>
            <a:xfrm>
              <a:off x="7572103" y="6010700"/>
              <a:ext cx="845586" cy="369332"/>
            </a:xfrm>
            <a:prstGeom prst="rect">
              <a:avLst/>
            </a:prstGeom>
            <a:solidFill>
              <a:srgbClr val="FFFF00"/>
            </a:solidFill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After</a:t>
              </a:r>
              <a:endParaRPr lang="en-SG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45D8D8B1-736B-880D-F739-6CF72E1BAA77}"/>
                </a:ext>
              </a:extLst>
            </p:cNvPr>
            <p:cNvSpPr/>
            <p:nvPr/>
          </p:nvSpPr>
          <p:spPr>
            <a:xfrm>
              <a:off x="8334105" y="2307772"/>
              <a:ext cx="687975" cy="287383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B501DD10-8851-30B0-EAF7-E1462DBC56BB}"/>
                </a:ext>
              </a:extLst>
            </p:cNvPr>
            <p:cNvSpPr/>
            <p:nvPr/>
          </p:nvSpPr>
          <p:spPr>
            <a:xfrm>
              <a:off x="7572103" y="4124402"/>
              <a:ext cx="189448" cy="369332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E1251361-AC86-C42C-74A0-B5F66D84C30E}"/>
                </a:ext>
              </a:extLst>
            </p:cNvPr>
            <p:cNvSpPr/>
            <p:nvPr/>
          </p:nvSpPr>
          <p:spPr>
            <a:xfrm>
              <a:off x="9365320" y="4399716"/>
              <a:ext cx="454288" cy="172284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27D1FC4-70CF-F368-6EF6-7464406ACC72}"/>
                </a:ext>
              </a:extLst>
            </p:cNvPr>
            <p:cNvSpPr/>
            <p:nvPr/>
          </p:nvSpPr>
          <p:spPr>
            <a:xfrm>
              <a:off x="8593918" y="6109590"/>
              <a:ext cx="454288" cy="454288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143967216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C1CC45-21D7-8CB4-39FA-362DFBE012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2502" y="218255"/>
            <a:ext cx="10515600" cy="695115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Information for Upper Left spindle Origin </a:t>
            </a:r>
            <a:endParaRPr lang="en-SG" sz="3200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F90155-2443-1748-8A21-993A084CE77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619186" y="2435884"/>
            <a:ext cx="8786055" cy="4335261"/>
          </a:xfr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1AE7F8E1-06CA-E442-7C91-96B28AE29C81}"/>
              </a:ext>
            </a:extLst>
          </p:cNvPr>
          <p:cNvGrpSpPr/>
          <p:nvPr/>
        </p:nvGrpSpPr>
        <p:grpSpPr>
          <a:xfrm>
            <a:off x="1750063" y="1131383"/>
            <a:ext cx="8588735" cy="1378487"/>
            <a:chOff x="1750063" y="1131383"/>
            <a:chExt cx="8588735" cy="1378487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95666778-8BE4-9F27-5F8D-FCC01721939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750063" y="1131383"/>
              <a:ext cx="8588735" cy="1139447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5F76BEAF-A14C-118A-7AE7-995539FE10A8}"/>
                </a:ext>
              </a:extLst>
            </p:cNvPr>
            <p:cNvSpPr/>
            <p:nvPr/>
          </p:nvSpPr>
          <p:spPr>
            <a:xfrm>
              <a:off x="1853202" y="1531203"/>
              <a:ext cx="452610" cy="555268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10" name="Straight Arrow Connector 9">
              <a:extLst>
                <a:ext uri="{FF2B5EF4-FFF2-40B4-BE49-F238E27FC236}">
                  <a16:creationId xmlns:a16="http://schemas.microsoft.com/office/drawing/2014/main" id="{FF7A1C7D-3C99-2BB2-65B6-295242BD5E11}"/>
                </a:ext>
              </a:extLst>
            </p:cNvPr>
            <p:cNvCxnSpPr>
              <a:cxnSpLocks/>
            </p:cNvCxnSpPr>
            <p:nvPr/>
          </p:nvCxnSpPr>
          <p:spPr>
            <a:xfrm>
              <a:off x="6911603" y="2262524"/>
              <a:ext cx="283779" cy="247346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760944879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568C8-A4D7-73E1-46E3-8B7F2FEFD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37562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Input Ref point as below picture</a:t>
            </a:r>
            <a:endParaRPr lang="en-SG" sz="3200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D4417813-FA0C-FB2E-7640-A947D678BF7C}"/>
              </a:ext>
            </a:extLst>
          </p:cNvPr>
          <p:cNvGrpSpPr/>
          <p:nvPr/>
        </p:nvGrpSpPr>
        <p:grpSpPr>
          <a:xfrm>
            <a:off x="838200" y="972746"/>
            <a:ext cx="10515600" cy="5464735"/>
            <a:chOff x="838200" y="972746"/>
            <a:chExt cx="10515600" cy="5464735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B45CE1AF-C10D-A5AA-FEC3-81B8FCBF41E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012692" y="2894411"/>
              <a:ext cx="4819617" cy="3543070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6AC56A6A-F121-4585-D4E2-05736C038F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38200" y="972746"/>
              <a:ext cx="10515600" cy="1694876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469E1C1-CD8D-9098-9AEE-5E37363252A0}"/>
                </a:ext>
              </a:extLst>
            </p:cNvPr>
            <p:cNvSpPr/>
            <p:nvPr/>
          </p:nvSpPr>
          <p:spPr>
            <a:xfrm>
              <a:off x="8953372" y="1512366"/>
              <a:ext cx="1823936" cy="454288"/>
            </a:xfrm>
            <a:prstGeom prst="ellipse">
              <a:avLst/>
            </a:prstGeom>
            <a:noFill/>
            <a:ln w="349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E8252D29-4DB3-BA4E-64A7-C9AFBA6A0635}"/>
                </a:ext>
              </a:extLst>
            </p:cNvPr>
            <p:cNvCxnSpPr/>
            <p:nvPr/>
          </p:nvCxnSpPr>
          <p:spPr>
            <a:xfrm flipH="1">
              <a:off x="7832309" y="1816188"/>
              <a:ext cx="1121063" cy="1734206"/>
            </a:xfrm>
            <a:prstGeom prst="straightConnector1">
              <a:avLst/>
            </a:prstGeom>
            <a:ln w="2857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748244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D73F98-2AEC-DECE-BA45-F2FC86745A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sz="3200" dirty="0"/>
              <a:t>Key the Face parameters follow accordingly as picture show than O.K</a:t>
            </a:r>
            <a:endParaRPr lang="en-SG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4ECCEC9-A090-CDD4-E9D9-CB763E8DEC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5877" y="1494770"/>
            <a:ext cx="6017786" cy="499810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131DFFBF-34FB-2DDA-B75E-113D8C4A7F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58073" y="2256288"/>
            <a:ext cx="4370939" cy="32837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9963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02EDB0-6B2D-C146-5968-850A3FECC4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>
                <a:solidFill>
                  <a:srgbClr val="333333"/>
                </a:solidFill>
                <a:latin typeface="Noto Sans" panose="020B0502040204020203" pitchFamily="34" charset="0"/>
              </a:rPr>
              <a:t>Select </a:t>
            </a:r>
            <a:r>
              <a:rPr lang="en-GB" dirty="0">
                <a:solidFill>
                  <a:srgbClr val="FF0000"/>
                </a:solidFill>
                <a:latin typeface="Noto Sans" panose="020B0502040204020203" pitchFamily="34" charset="0"/>
              </a:rPr>
              <a:t>G1</a:t>
            </a:r>
            <a:r>
              <a:rPr lang="en-GB" dirty="0">
                <a:solidFill>
                  <a:srgbClr val="333333"/>
                </a:solidFill>
                <a:latin typeface="Noto Sans" panose="020B0502040204020203" pitchFamily="34" charset="0"/>
              </a:rPr>
              <a:t> </a:t>
            </a:r>
            <a:r>
              <a:rPr lang="en-GB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Working with the Sync Manager</a:t>
            </a:r>
            <a:br>
              <a:rPr lang="en-GB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</a:b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F7B2615-6AC1-D0EB-36CD-79496214D5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4077" y="1878765"/>
            <a:ext cx="4932998" cy="4087780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C746265-B750-696B-D25D-754B3147F3A5}"/>
              </a:ext>
            </a:extLst>
          </p:cNvPr>
          <p:cNvSpPr/>
          <p:nvPr/>
        </p:nvSpPr>
        <p:spPr>
          <a:xfrm>
            <a:off x="6903855" y="2250192"/>
            <a:ext cx="454288" cy="454288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96087272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F426AB-F2B3-F3ED-7ED8-5F9DD662A5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83357" y="123301"/>
            <a:ext cx="11425286" cy="636927"/>
          </a:xfrm>
        </p:spPr>
        <p:txBody>
          <a:bodyPr>
            <a:normAutofit fontScale="90000"/>
          </a:bodyPr>
          <a:lstStyle/>
          <a:p>
            <a:pPr algn="ctr"/>
            <a:r>
              <a:rPr lang="en-GB" sz="32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Some Machine Group parameters Show on  Sync Manager page</a:t>
            </a:r>
            <a:endParaRPr lang="en-SG" sz="3200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4B612D0E-809A-82D9-D58C-DA5E3ADB1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02410" y="735776"/>
            <a:ext cx="6502854" cy="6015018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20170B3C-979C-2369-CD2C-5B92B7DCB261}"/>
              </a:ext>
            </a:extLst>
          </p:cNvPr>
          <p:cNvSpPr/>
          <p:nvPr/>
        </p:nvSpPr>
        <p:spPr>
          <a:xfrm>
            <a:off x="4426957" y="964850"/>
            <a:ext cx="315311" cy="189186"/>
          </a:xfrm>
          <a:prstGeom prst="ellipse">
            <a:avLst/>
          </a:prstGeom>
          <a:noFill/>
          <a:ln w="349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B93C5A9-B328-CDA4-A3B7-8A788FD578AE}"/>
              </a:ext>
            </a:extLst>
          </p:cNvPr>
          <p:cNvSpPr/>
          <p:nvPr/>
        </p:nvSpPr>
        <p:spPr>
          <a:xfrm>
            <a:off x="3623747" y="6533230"/>
            <a:ext cx="5526559" cy="264861"/>
          </a:xfrm>
          <a:prstGeom prst="rect">
            <a:avLst/>
          </a:prstGeom>
          <a:noFill/>
          <a:ln w="539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638D18-6F19-A300-680E-4DCE47EF5631}"/>
              </a:ext>
            </a:extLst>
          </p:cNvPr>
          <p:cNvSpPr txBox="1"/>
          <p:nvPr/>
        </p:nvSpPr>
        <p:spPr>
          <a:xfrm>
            <a:off x="9423022" y="3743285"/>
            <a:ext cx="2095210" cy="2585323"/>
          </a:xfrm>
          <a:prstGeom prst="rect">
            <a:avLst/>
          </a:prstGeom>
          <a:solidFill>
            <a:srgbClr val="FFFF00"/>
          </a:solidFill>
          <a:ln w="47625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/>
              <a:t>This G53 must be check so can writing  on the NC programs for  B axis reference return. When using  rotate the B axis feature on turning function </a:t>
            </a:r>
            <a:r>
              <a:rPr lang="en-US" b="1" dirty="0"/>
              <a:t>for the toolpath.</a:t>
            </a:r>
            <a:endParaRPr lang="en-SG" b="1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58A71217-E47E-8B32-C353-77B782F85EFB}"/>
              </a:ext>
            </a:extLst>
          </p:cNvPr>
          <p:cNvCxnSpPr/>
          <p:nvPr/>
        </p:nvCxnSpPr>
        <p:spPr>
          <a:xfrm flipH="1">
            <a:off x="9150306" y="6052008"/>
            <a:ext cx="272716" cy="481222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2418FC31-A771-FBB4-E1FB-415CB96369CE}"/>
              </a:ext>
            </a:extLst>
          </p:cNvPr>
          <p:cNvSpPr/>
          <p:nvPr/>
        </p:nvSpPr>
        <p:spPr>
          <a:xfrm>
            <a:off x="3539266" y="964850"/>
            <a:ext cx="849854" cy="18918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0510864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368C3587-D414-79CF-A57A-B77F1D6C24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0211" y="192729"/>
            <a:ext cx="10491577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Some Lathe </a:t>
            </a:r>
            <a:r>
              <a:rPr lang="en-GB" sz="2800" dirty="0">
                <a:solidFill>
                  <a:srgbClr val="333333"/>
                </a:solidFill>
                <a:latin typeface="Noto Sans" panose="020B0502040204020203" pitchFamily="34" charset="0"/>
              </a:rPr>
              <a:t>Face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 Turning parameters Show on  Sync Manager page</a:t>
            </a:r>
            <a:endParaRPr lang="en-SG" sz="2800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1C48F2F-3A98-A5C7-303E-50597233DF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0982" y="1169540"/>
            <a:ext cx="7164986" cy="544147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1574C7D1-1070-35D1-326F-1429CBDA71FC}"/>
              </a:ext>
            </a:extLst>
          </p:cNvPr>
          <p:cNvSpPr/>
          <p:nvPr/>
        </p:nvSpPr>
        <p:spPr>
          <a:xfrm>
            <a:off x="2556587" y="2377758"/>
            <a:ext cx="976604" cy="28302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F8B5366-7E4A-3818-E824-3C7465CFF8CA}"/>
              </a:ext>
            </a:extLst>
          </p:cNvPr>
          <p:cNvSpPr/>
          <p:nvPr/>
        </p:nvSpPr>
        <p:spPr>
          <a:xfrm flipH="1">
            <a:off x="3575368" y="2318602"/>
            <a:ext cx="180907" cy="35300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9328989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BE3A03C-F7DB-5254-2AA2-DC821906B4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290497" y="1690688"/>
            <a:ext cx="6487430" cy="4344006"/>
          </a:xfr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AA235041-6F38-B37C-D595-7A778D6A7F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Some Lathe </a:t>
            </a:r>
            <a:r>
              <a:rPr lang="en-GB" sz="2800" dirty="0">
                <a:solidFill>
                  <a:srgbClr val="333333"/>
                </a:solidFill>
                <a:latin typeface="Noto Sans" panose="020B0502040204020203" pitchFamily="34" charset="0"/>
              </a:rPr>
              <a:t>Face</a:t>
            </a:r>
            <a:r>
              <a:rPr lang="en-GB" sz="28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 Turning Approach parameters Show on  Sync Manager page</a:t>
            </a:r>
            <a:endParaRPr lang="en-SG" sz="2800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5C53E3B-603E-3121-F21C-B556252B430F}"/>
              </a:ext>
            </a:extLst>
          </p:cNvPr>
          <p:cNvSpPr/>
          <p:nvPr/>
        </p:nvSpPr>
        <p:spPr>
          <a:xfrm>
            <a:off x="3465009" y="4439641"/>
            <a:ext cx="3156919" cy="269818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DD652B7C-596E-B3D1-7514-62BB722D865A}"/>
              </a:ext>
            </a:extLst>
          </p:cNvPr>
          <p:cNvSpPr/>
          <p:nvPr/>
        </p:nvSpPr>
        <p:spPr>
          <a:xfrm flipH="1">
            <a:off x="6808639" y="4398049"/>
            <a:ext cx="180907" cy="35300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71454332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6A990-2084-576D-69F2-8903091B4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659" y="1148043"/>
            <a:ext cx="10515600" cy="1325563"/>
          </a:xfrm>
        </p:spPr>
        <p:txBody>
          <a:bodyPr>
            <a:normAutofit fontScale="90000"/>
          </a:bodyPr>
          <a:lstStyle/>
          <a:p>
            <a:r>
              <a:rPr lang="en-GB" sz="44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Some Lathe </a:t>
            </a:r>
            <a:r>
              <a:rPr lang="en-GB" sz="4400" dirty="0">
                <a:solidFill>
                  <a:srgbClr val="333333"/>
                </a:solidFill>
                <a:latin typeface="Noto Sans" panose="020B0502040204020203" pitchFamily="34" charset="0"/>
              </a:rPr>
              <a:t>Face</a:t>
            </a:r>
            <a:r>
              <a:rPr lang="en-GB" sz="44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 Turning </a:t>
            </a:r>
            <a:r>
              <a:rPr lang="en-GB" sz="4400" b="0" i="0" dirty="0" err="1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Retrach</a:t>
            </a:r>
            <a:r>
              <a:rPr lang="en-GB" sz="4400" b="0" i="0" dirty="0">
                <a:solidFill>
                  <a:srgbClr val="333333"/>
                </a:solidFill>
                <a:effectLst/>
                <a:latin typeface="Noto Sans" panose="020B0502040204020203" pitchFamily="34" charset="0"/>
              </a:rPr>
              <a:t> parameters Show on  Sync Manager page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125499-61E6-983B-C941-4E36FE46DA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283" y="3236189"/>
            <a:ext cx="9383434" cy="233395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77E5797-DD35-0132-F8B3-55CD8AC9ECF6}"/>
              </a:ext>
            </a:extLst>
          </p:cNvPr>
          <p:cNvSpPr/>
          <p:nvPr/>
        </p:nvSpPr>
        <p:spPr>
          <a:xfrm>
            <a:off x="1821481" y="3345947"/>
            <a:ext cx="814144" cy="22200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5A6E443-C385-FE13-5A0F-E7CB9F9BE2FF}"/>
              </a:ext>
            </a:extLst>
          </p:cNvPr>
          <p:cNvSpPr/>
          <p:nvPr/>
        </p:nvSpPr>
        <p:spPr>
          <a:xfrm flipH="1">
            <a:off x="2708785" y="3264577"/>
            <a:ext cx="180907" cy="353001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14257783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3A845F-24A0-DE21-4277-009A027272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577228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Continue the rest of the lathe operations, any issue can refer to the Mastercam part file with completed toolpaths. 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CF4DC15-B678-6F36-218B-792E0ACE873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76149" y="2141537"/>
            <a:ext cx="4400644" cy="4351338"/>
          </a:xfrm>
        </p:spPr>
      </p:pic>
    </p:spTree>
    <p:extLst>
      <p:ext uri="{BB962C8B-B14F-4D97-AF65-F5344CB8AC3E}">
        <p14:creationId xmlns:p14="http://schemas.microsoft.com/office/powerpoint/2010/main" val="33893910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5444AB92-2AC0-2D08-827C-47BCC41FC2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63705" y="2397125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Create Stock Model after lathe operations to apply on  some Milling functions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562047126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53E90-FEF9-4023-2DE6-C3E536A632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6582" y="307415"/>
            <a:ext cx="11598835" cy="1325563"/>
          </a:xfrm>
        </p:spPr>
        <p:txBody>
          <a:bodyPr/>
          <a:lstStyle/>
          <a:p>
            <a:pPr algn="ctr"/>
            <a:r>
              <a:rPr lang="en-GB" dirty="0"/>
              <a:t>Create Stock Model select Icon as below diagram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587956B1-8084-569F-4001-14C85180780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713511" y="2001465"/>
            <a:ext cx="2274909" cy="4351338"/>
          </a:xfr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CE48E474-296A-3373-F529-EC595BE44FC0}"/>
              </a:ext>
            </a:extLst>
          </p:cNvPr>
          <p:cNvSpPr/>
          <p:nvPr/>
        </p:nvSpPr>
        <p:spPr>
          <a:xfrm flipH="1">
            <a:off x="4615273" y="2272272"/>
            <a:ext cx="883080" cy="1325563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3039026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4F169A-771C-EFDF-EDAB-A1B360FA5F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11940" y="359150"/>
            <a:ext cx="9633315" cy="710640"/>
          </a:xfrm>
        </p:spPr>
        <p:txBody>
          <a:bodyPr>
            <a:normAutofit fontScale="90000"/>
          </a:bodyPr>
          <a:lstStyle/>
          <a:p>
            <a:pPr algn="ctr"/>
            <a:r>
              <a:rPr lang="en-GB" dirty="0"/>
              <a:t>Select all  Source Operations as below picture</a:t>
            </a:r>
            <a:endParaRPr lang="en-SG" dirty="0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1391D5C-8A87-1607-3E24-2DC2921E8674}"/>
              </a:ext>
            </a:extLst>
          </p:cNvPr>
          <p:cNvGrpSpPr/>
          <p:nvPr/>
        </p:nvGrpSpPr>
        <p:grpSpPr>
          <a:xfrm>
            <a:off x="2279242" y="1299411"/>
            <a:ext cx="9477214" cy="4990824"/>
            <a:chOff x="2279242" y="1299411"/>
            <a:chExt cx="9477214" cy="4990824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E499C8AA-7412-EF86-8C87-7C4786EC659D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279242" y="1299411"/>
              <a:ext cx="5824852" cy="499082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315C226-4D2E-573C-3C25-109D97505C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578778" y="3139311"/>
              <a:ext cx="5177678" cy="1862996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2BA4C998-A89D-6D5F-8FDB-A38E776BE889}"/>
                </a:ext>
              </a:extLst>
            </p:cNvPr>
            <p:cNvSpPr/>
            <p:nvPr/>
          </p:nvSpPr>
          <p:spPr>
            <a:xfrm flipH="1">
              <a:off x="6736920" y="4172790"/>
              <a:ext cx="883080" cy="895258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410633460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C1BEE-5CF2-B668-5636-645CCF90E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410" y="179855"/>
            <a:ext cx="11270129" cy="1325563"/>
          </a:xfrm>
        </p:spPr>
        <p:txBody>
          <a:bodyPr/>
          <a:lstStyle/>
          <a:p>
            <a:r>
              <a:rPr lang="en-GB" dirty="0"/>
              <a:t>Input the Stock Definition parameters as below</a:t>
            </a:r>
            <a:endParaRPr lang="en-SG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38E152D-C623-BFD9-F189-4DC9D98A0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3121" y="2519367"/>
            <a:ext cx="3390679" cy="2995977"/>
          </a:xfrm>
          <a:prstGeom prst="rect">
            <a:avLst/>
          </a:pr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B186132-382F-E307-6BFD-CF79EB1E1F24}"/>
              </a:ext>
            </a:extLst>
          </p:cNvPr>
          <p:cNvGrpSpPr/>
          <p:nvPr/>
        </p:nvGrpSpPr>
        <p:grpSpPr>
          <a:xfrm>
            <a:off x="1352121" y="1330332"/>
            <a:ext cx="6058703" cy="5145173"/>
            <a:chOff x="1352121" y="1330332"/>
            <a:chExt cx="6058703" cy="5145173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6376B7-E3FE-FF77-63C6-E59D8F5A584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444210" y="1330332"/>
              <a:ext cx="5966614" cy="5145173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4ED358BA-928C-409B-5E85-28338C7F6A65}"/>
                </a:ext>
              </a:extLst>
            </p:cNvPr>
            <p:cNvSpPr/>
            <p:nvPr/>
          </p:nvSpPr>
          <p:spPr>
            <a:xfrm flipH="1">
              <a:off x="1352121" y="1836653"/>
              <a:ext cx="883080" cy="17573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B082F99-FA98-FFE0-745B-E504D7F51D9F}"/>
                </a:ext>
              </a:extLst>
            </p:cNvPr>
            <p:cNvSpPr/>
            <p:nvPr/>
          </p:nvSpPr>
          <p:spPr>
            <a:xfrm flipH="1">
              <a:off x="3002663" y="2891501"/>
              <a:ext cx="717691" cy="175737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F09B691-F625-E9F7-A4A7-A25A69322236}"/>
                </a:ext>
              </a:extLst>
            </p:cNvPr>
            <p:cNvSpPr/>
            <p:nvPr/>
          </p:nvSpPr>
          <p:spPr>
            <a:xfrm flipH="1">
              <a:off x="3756211" y="2891499"/>
              <a:ext cx="717689" cy="17573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F1E11D6F-B796-827A-30B5-4FE93ED7649C}"/>
                </a:ext>
              </a:extLst>
            </p:cNvPr>
            <p:cNvSpPr/>
            <p:nvPr/>
          </p:nvSpPr>
          <p:spPr>
            <a:xfrm flipH="1">
              <a:off x="3756211" y="4595632"/>
              <a:ext cx="883080" cy="17573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F81E98E8-7F51-9A03-9495-22733CD3221C}"/>
                </a:ext>
              </a:extLst>
            </p:cNvPr>
            <p:cNvSpPr/>
            <p:nvPr/>
          </p:nvSpPr>
          <p:spPr>
            <a:xfrm flipH="1">
              <a:off x="4882776" y="5758055"/>
              <a:ext cx="883080" cy="17573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5D2BA54D-22BC-CE27-F9F9-E615A1462853}"/>
                </a:ext>
              </a:extLst>
            </p:cNvPr>
            <p:cNvSpPr/>
            <p:nvPr/>
          </p:nvSpPr>
          <p:spPr>
            <a:xfrm flipH="1">
              <a:off x="5713506" y="6254103"/>
              <a:ext cx="519346" cy="221402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87351D5B-6F9A-9297-86D0-7E2D1A75400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45154" y="2207871"/>
            <a:ext cx="4175054" cy="521882"/>
          </a:xfrm>
          <a:prstGeom prst="rect">
            <a:avLst/>
          </a:prstGeom>
        </p:spPr>
      </p:pic>
      <p:cxnSp>
        <p:nvCxnSpPr>
          <p:cNvPr id="18" name="Connector: Curved 17">
            <a:extLst>
              <a:ext uri="{FF2B5EF4-FFF2-40B4-BE49-F238E27FC236}">
                <a16:creationId xmlns:a16="http://schemas.microsoft.com/office/drawing/2014/main" id="{2DDE5A16-69A4-F2B3-2E8F-2EFDA20CEA4A}"/>
              </a:ext>
            </a:extLst>
          </p:cNvPr>
          <p:cNvCxnSpPr>
            <a:cxnSpLocks/>
            <a:stCxn id="8" idx="5"/>
            <a:endCxn id="9" idx="6"/>
          </p:cNvCxnSpPr>
          <p:nvPr/>
        </p:nvCxnSpPr>
        <p:spPr>
          <a:xfrm rot="16200000" flipH="1">
            <a:off x="1745697" y="1722404"/>
            <a:ext cx="992714" cy="1521218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or: Curved 19">
            <a:extLst>
              <a:ext uri="{FF2B5EF4-FFF2-40B4-BE49-F238E27FC236}">
                <a16:creationId xmlns:a16="http://schemas.microsoft.com/office/drawing/2014/main" id="{CEDDAE55-5D8C-75F1-5626-6972E0C05F1A}"/>
              </a:ext>
            </a:extLst>
          </p:cNvPr>
          <p:cNvCxnSpPr>
            <a:cxnSpLocks/>
            <a:stCxn id="10" idx="3"/>
            <a:endCxn id="11" idx="7"/>
          </p:cNvCxnSpPr>
          <p:nvPr/>
        </p:nvCxnSpPr>
        <p:spPr>
          <a:xfrm rot="5400000">
            <a:off x="3337233" y="3589804"/>
            <a:ext cx="1579866" cy="483262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nector: Curved 22">
            <a:extLst>
              <a:ext uri="{FF2B5EF4-FFF2-40B4-BE49-F238E27FC236}">
                <a16:creationId xmlns:a16="http://schemas.microsoft.com/office/drawing/2014/main" id="{0E935539-B5A3-9317-541F-EE27DF771BF1}"/>
              </a:ext>
            </a:extLst>
          </p:cNvPr>
          <p:cNvCxnSpPr>
            <a:cxnSpLocks/>
            <a:stCxn id="11" idx="3"/>
            <a:endCxn id="12" idx="6"/>
          </p:cNvCxnSpPr>
          <p:nvPr/>
        </p:nvCxnSpPr>
        <p:spPr>
          <a:xfrm rot="16200000" flipH="1">
            <a:off x="4146226" y="5109375"/>
            <a:ext cx="1100290" cy="372809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Curved 26">
            <a:extLst>
              <a:ext uri="{FF2B5EF4-FFF2-40B4-BE49-F238E27FC236}">
                <a16:creationId xmlns:a16="http://schemas.microsoft.com/office/drawing/2014/main" id="{28D3E0F0-418E-80B5-ECD3-2B97B249CEB1}"/>
              </a:ext>
            </a:extLst>
          </p:cNvPr>
          <p:cNvCxnSpPr>
            <a:cxnSpLocks/>
            <a:stCxn id="12" idx="4"/>
            <a:endCxn id="13" idx="6"/>
          </p:cNvCxnSpPr>
          <p:nvPr/>
        </p:nvCxnSpPr>
        <p:spPr>
          <a:xfrm rot="16200000" flipH="1">
            <a:off x="5303406" y="5954704"/>
            <a:ext cx="431010" cy="389190"/>
          </a:xfrm>
          <a:prstGeom prst="curvedConnector2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nector: Curved 29">
            <a:extLst>
              <a:ext uri="{FF2B5EF4-FFF2-40B4-BE49-F238E27FC236}">
                <a16:creationId xmlns:a16="http://schemas.microsoft.com/office/drawing/2014/main" id="{A21BEB2B-F674-F2CB-85A6-DA7024F288E6}"/>
              </a:ext>
            </a:extLst>
          </p:cNvPr>
          <p:cNvCxnSpPr>
            <a:cxnSpLocks/>
            <a:stCxn id="13" idx="2"/>
          </p:cNvCxnSpPr>
          <p:nvPr/>
        </p:nvCxnSpPr>
        <p:spPr>
          <a:xfrm flipV="1">
            <a:off x="6232852" y="4771371"/>
            <a:ext cx="1963118" cy="1593433"/>
          </a:xfrm>
          <a:prstGeom prst="curvedConnector3">
            <a:avLst>
              <a:gd name="adj1" fmla="val 50000"/>
            </a:avLst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278073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86ACA5-3752-AA6F-F950-1A073BBB9A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7142" y="2766218"/>
            <a:ext cx="10515600" cy="1325563"/>
          </a:xfrm>
        </p:spPr>
        <p:txBody>
          <a:bodyPr/>
          <a:lstStyle/>
          <a:p>
            <a:pPr algn="ctr"/>
            <a:r>
              <a:rPr lang="en-GB" dirty="0"/>
              <a:t>Develop the milling toolpaths required to complete first-side machining for the job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901248393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09D29C-A854-C054-FC39-6F93D04B7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917518" cy="1325563"/>
          </a:xfrm>
        </p:spPr>
        <p:txBody>
          <a:bodyPr/>
          <a:lstStyle/>
          <a:p>
            <a:pPr algn="ctr"/>
            <a:r>
              <a:rPr lang="en-GB" dirty="0"/>
              <a:t>Select the milling method for tool preparation.</a:t>
            </a:r>
            <a:endParaRPr lang="en-SG" dirty="0"/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E8EC75C-2A81-3712-9D7C-531625B93992}"/>
              </a:ext>
            </a:extLst>
          </p:cNvPr>
          <p:cNvGrpSpPr/>
          <p:nvPr/>
        </p:nvGrpSpPr>
        <p:grpSpPr>
          <a:xfrm>
            <a:off x="3918059" y="1884792"/>
            <a:ext cx="2966835" cy="3219899"/>
            <a:chOff x="3918059" y="1884792"/>
            <a:chExt cx="2966835" cy="3219899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005C022A-071C-FE2F-E76D-FB3F62130FA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18059" y="1884792"/>
              <a:ext cx="2848373" cy="3219899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9302247-BA44-CFB9-CAB0-0CB1430784A1}"/>
                </a:ext>
              </a:extLst>
            </p:cNvPr>
            <p:cNvSpPr/>
            <p:nvPr/>
          </p:nvSpPr>
          <p:spPr>
            <a:xfrm flipH="1">
              <a:off x="5612628" y="2390592"/>
              <a:ext cx="883080" cy="633506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3E17175A-DAE8-2857-D55D-104A5E82E902}"/>
                </a:ext>
              </a:extLst>
            </p:cNvPr>
            <p:cNvSpPr/>
            <p:nvPr/>
          </p:nvSpPr>
          <p:spPr>
            <a:xfrm flipH="1">
              <a:off x="5612628" y="3077882"/>
              <a:ext cx="1272266" cy="165847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261068143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D18658-AAA2-6071-1425-578C6D271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GB" dirty="0"/>
              <a:t>Prepare the mill tooling before starting the milling toolpath development show as below picture .</a:t>
            </a:r>
            <a:endParaRPr lang="en-SG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5518E21E-0C62-0950-D487-F8460F76D63E}"/>
              </a:ext>
            </a:extLst>
          </p:cNvPr>
          <p:cNvGrpSpPr/>
          <p:nvPr/>
        </p:nvGrpSpPr>
        <p:grpSpPr>
          <a:xfrm>
            <a:off x="748191" y="1745131"/>
            <a:ext cx="11366115" cy="4979941"/>
            <a:chOff x="748191" y="1745131"/>
            <a:chExt cx="11366115" cy="4979941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42B0E50C-FD9D-73C1-EBAB-4FDCD3B214D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48191" y="1745131"/>
              <a:ext cx="8808185" cy="4979941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978EF56-A3E3-BA5F-6E54-2F3C77C21D9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181388" y="2296172"/>
              <a:ext cx="3924848" cy="1428949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4FCA3E5F-1CCB-6525-224D-FDBA08543A6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9687859" y="2921693"/>
              <a:ext cx="2351206" cy="1606855"/>
            </a:xfrm>
            <a:prstGeom prst="rect">
              <a:avLst/>
            </a:prstGeom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1670014F-DC74-FEAD-0DC9-F7EE30E28415}"/>
                </a:ext>
              </a:extLst>
            </p:cNvPr>
            <p:cNvSpPr/>
            <p:nvPr/>
          </p:nvSpPr>
          <p:spPr>
            <a:xfrm flipH="1">
              <a:off x="3467075" y="4291105"/>
              <a:ext cx="369819" cy="33169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BFA405-4E77-C415-4F1B-8173E03F401C}"/>
                </a:ext>
              </a:extLst>
            </p:cNvPr>
            <p:cNvSpPr/>
            <p:nvPr/>
          </p:nvSpPr>
          <p:spPr>
            <a:xfrm>
              <a:off x="4181388" y="2009873"/>
              <a:ext cx="4084071" cy="178518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9159EE6-FDA5-36D0-62D4-3D9A880817A0}"/>
                </a:ext>
              </a:extLst>
            </p:cNvPr>
            <p:cNvSpPr/>
            <p:nvPr/>
          </p:nvSpPr>
          <p:spPr>
            <a:xfrm>
              <a:off x="9556376" y="2921693"/>
              <a:ext cx="2557930" cy="1787765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D01E76C1-AE9F-EE6B-A9EA-E7A207220B27}"/>
                </a:ext>
              </a:extLst>
            </p:cNvPr>
            <p:cNvSpPr/>
            <p:nvPr/>
          </p:nvSpPr>
          <p:spPr>
            <a:xfrm flipH="1">
              <a:off x="4350871" y="2629647"/>
              <a:ext cx="651434" cy="543859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D23023B0-0C56-2E2C-4A61-682171323563}"/>
                </a:ext>
              </a:extLst>
            </p:cNvPr>
            <p:cNvSpPr/>
            <p:nvPr/>
          </p:nvSpPr>
          <p:spPr>
            <a:xfrm>
              <a:off x="9708776" y="4141694"/>
              <a:ext cx="2330289" cy="43030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cxnSp>
        <p:nvCxnSpPr>
          <p:cNvPr id="17" name="Connector: Curved 16">
            <a:extLst>
              <a:ext uri="{FF2B5EF4-FFF2-40B4-BE49-F238E27FC236}">
                <a16:creationId xmlns:a16="http://schemas.microsoft.com/office/drawing/2014/main" id="{374B1973-F8F8-76E0-469C-7AB70BD5359A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622588" y="3224487"/>
            <a:ext cx="1117599" cy="985757"/>
          </a:xfrm>
          <a:prstGeom prst="curvedConnector3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Curved 18">
            <a:extLst>
              <a:ext uri="{FF2B5EF4-FFF2-40B4-BE49-F238E27FC236}">
                <a16:creationId xmlns:a16="http://schemas.microsoft.com/office/drawing/2014/main" id="{A534EA65-2083-914E-1C35-6FDDC323F3F6}"/>
              </a:ext>
            </a:extLst>
          </p:cNvPr>
          <p:cNvCxnSpPr>
            <a:cxnSpLocks/>
          </p:cNvCxnSpPr>
          <p:nvPr/>
        </p:nvCxnSpPr>
        <p:spPr>
          <a:xfrm>
            <a:off x="5000810" y="2901576"/>
            <a:ext cx="4706471" cy="1346201"/>
          </a:xfrm>
          <a:prstGeom prst="curvedConnector3">
            <a:avLst>
              <a:gd name="adj1" fmla="val 72984"/>
            </a:avLst>
          </a:prstGeom>
          <a:ln w="317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7543089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20B24D-FDBD-39CC-6A0B-2B2047E43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Drag all using tools to the Tool Manager page window.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2563124-AA5E-1F34-A8E5-556EBB9BBD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1106" y="1690688"/>
            <a:ext cx="8588188" cy="4789220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EA83E829-F338-D93D-98B4-4E3AEE2C6FEF}"/>
              </a:ext>
            </a:extLst>
          </p:cNvPr>
          <p:cNvCxnSpPr>
            <a:cxnSpLocks/>
          </p:cNvCxnSpPr>
          <p:nvPr/>
        </p:nvCxnSpPr>
        <p:spPr>
          <a:xfrm flipH="1" flipV="1">
            <a:off x="4189507" y="3015458"/>
            <a:ext cx="1726731" cy="1534884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D20F9A23-2CE1-04A4-7129-E2F132B7E1CB}"/>
              </a:ext>
            </a:extLst>
          </p:cNvPr>
          <p:cNvSpPr txBox="1"/>
          <p:nvPr/>
        </p:nvSpPr>
        <p:spPr>
          <a:xfrm>
            <a:off x="4084491" y="3762133"/>
            <a:ext cx="2942985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GB" sz="1800" dirty="0"/>
              <a:t>Drag All Milling Tools to the Tool Manager widows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5339501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1D9581-126F-7D39-3BEF-EC76B3B88B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All Mill tools are ready to use to development the milling toolpaths.</a:t>
            </a:r>
            <a:endParaRPr lang="en-SG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FB6D7E1-EB1A-6E91-88E2-D259FB6691F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13373" y="2141537"/>
            <a:ext cx="7725349" cy="4351338"/>
          </a:xfrm>
        </p:spPr>
      </p:pic>
    </p:spTree>
    <p:extLst>
      <p:ext uri="{BB962C8B-B14F-4D97-AF65-F5344CB8AC3E}">
        <p14:creationId xmlns:p14="http://schemas.microsoft.com/office/powerpoint/2010/main" val="1412062518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9185-06F6-F7B9-EBF8-95C73B53D6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8039"/>
            <a:ext cx="10515600" cy="1214859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Create a New Toolpath group to start the Milling operation maintain a good housekeeping .</a:t>
            </a:r>
            <a:endParaRPr lang="en-SG" sz="3600" dirty="0"/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5ACFCFE2-8E28-AB41-DAE3-686B96A4DAD4}"/>
              </a:ext>
            </a:extLst>
          </p:cNvPr>
          <p:cNvGrpSpPr/>
          <p:nvPr/>
        </p:nvGrpSpPr>
        <p:grpSpPr>
          <a:xfrm>
            <a:off x="209936" y="1362636"/>
            <a:ext cx="11615060" cy="5549509"/>
            <a:chOff x="209936" y="1362636"/>
            <a:chExt cx="11615060" cy="5549509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5C045B61-C369-7038-3B2B-D58A8E2FF45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475711" y="1362636"/>
              <a:ext cx="4948484" cy="5025170"/>
            </a:xfrm>
            <a:prstGeom prst="rect">
              <a:avLst/>
            </a:prstGeom>
          </p:spPr>
        </p:pic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3887380-578B-87F5-D50F-62C2B47E23EC}"/>
                </a:ext>
              </a:extLst>
            </p:cNvPr>
            <p:cNvSpPr/>
            <p:nvPr/>
          </p:nvSpPr>
          <p:spPr>
            <a:xfrm flipH="1">
              <a:off x="2251786" y="2090057"/>
              <a:ext cx="1430695" cy="19905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BE1189AD-4D22-A54F-69B7-1A5EF586AFCE}"/>
                </a:ext>
              </a:extLst>
            </p:cNvPr>
            <p:cNvSpPr/>
            <p:nvPr/>
          </p:nvSpPr>
          <p:spPr>
            <a:xfrm flipH="1">
              <a:off x="3498977" y="2687216"/>
              <a:ext cx="1430695" cy="19905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337FE861-BC3C-82AA-A80F-01F8DA824376}"/>
                </a:ext>
              </a:extLst>
            </p:cNvPr>
            <p:cNvSpPr/>
            <p:nvPr/>
          </p:nvSpPr>
          <p:spPr>
            <a:xfrm flipH="1">
              <a:off x="5632578" y="2911149"/>
              <a:ext cx="1430695" cy="199053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AD1036D8-436F-9EE5-988A-4E975C27FE3E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7785116" y="1362636"/>
              <a:ext cx="3343193" cy="5170046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E4BE51C7-2C81-4F7C-06B1-83515401FB21}"/>
                </a:ext>
              </a:extLst>
            </p:cNvPr>
            <p:cNvSpPr txBox="1"/>
            <p:nvPr/>
          </p:nvSpPr>
          <p:spPr>
            <a:xfrm>
              <a:off x="209936" y="1866417"/>
              <a:ext cx="1816359" cy="646331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Right click on the Machine group</a:t>
              </a:r>
              <a:endParaRPr lang="en-SG" dirty="0"/>
            </a:p>
          </p:txBody>
        </p:sp>
        <p:cxnSp>
          <p:nvCxnSpPr>
            <p:cNvPr id="11" name="Straight Arrow Connector 10">
              <a:extLst>
                <a:ext uri="{FF2B5EF4-FFF2-40B4-BE49-F238E27FC236}">
                  <a16:creationId xmlns:a16="http://schemas.microsoft.com/office/drawing/2014/main" id="{7FA7A74B-C99D-973A-AED1-F7EBD942B01C}"/>
                </a:ext>
              </a:extLst>
            </p:cNvPr>
            <p:cNvCxnSpPr>
              <a:stCxn id="9" idx="3"/>
              <a:endCxn id="3" idx="5"/>
            </p:cNvCxnSpPr>
            <p:nvPr/>
          </p:nvCxnSpPr>
          <p:spPr>
            <a:xfrm flipV="1">
              <a:off x="2026295" y="2189582"/>
              <a:ext cx="340387" cy="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0E2B933E-EFC7-37A7-6D3F-53FD6905EEE9}"/>
                </a:ext>
              </a:extLst>
            </p:cNvPr>
            <p:cNvSpPr txBox="1"/>
            <p:nvPr/>
          </p:nvSpPr>
          <p:spPr>
            <a:xfrm>
              <a:off x="4141694" y="3059668"/>
              <a:ext cx="997723" cy="369332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Select</a:t>
              </a:r>
              <a:endParaRPr lang="en-SG" dirty="0"/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9EC68367-0325-55C7-4FFF-82368E876A2E}"/>
                </a:ext>
              </a:extLst>
            </p:cNvPr>
            <p:cNvSpPr txBox="1"/>
            <p:nvPr/>
          </p:nvSpPr>
          <p:spPr>
            <a:xfrm>
              <a:off x="6564411" y="3244334"/>
              <a:ext cx="997723" cy="369332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dirty="0"/>
                <a:t>Select</a:t>
              </a:r>
              <a:endParaRPr lang="en-SG" dirty="0"/>
            </a:p>
          </p:txBody>
        </p:sp>
        <p:cxnSp>
          <p:nvCxnSpPr>
            <p:cNvPr id="16" name="Straight Arrow Connector 15">
              <a:extLst>
                <a:ext uri="{FF2B5EF4-FFF2-40B4-BE49-F238E27FC236}">
                  <a16:creationId xmlns:a16="http://schemas.microsoft.com/office/drawing/2014/main" id="{653BC7B6-F583-7FAA-19B7-37C3170149DC}"/>
                </a:ext>
              </a:extLst>
            </p:cNvPr>
            <p:cNvCxnSpPr>
              <a:stCxn id="12" idx="0"/>
            </p:cNvCxnSpPr>
            <p:nvPr/>
          </p:nvCxnSpPr>
          <p:spPr>
            <a:xfrm flipH="1" flipV="1">
              <a:off x="4404324" y="2830286"/>
              <a:ext cx="236232" cy="229382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Arrow Connector 16">
              <a:extLst>
                <a:ext uri="{FF2B5EF4-FFF2-40B4-BE49-F238E27FC236}">
                  <a16:creationId xmlns:a16="http://schemas.microsoft.com/office/drawing/2014/main" id="{9FC62996-8003-C2B5-2242-3F85CD91A86E}"/>
                </a:ext>
              </a:extLst>
            </p:cNvPr>
            <p:cNvCxnSpPr/>
            <p:nvPr/>
          </p:nvCxnSpPr>
          <p:spPr>
            <a:xfrm flipH="1" flipV="1">
              <a:off x="6875731" y="2995511"/>
              <a:ext cx="236232" cy="229382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8A0AD1D1-8AB4-780E-67EB-DCDCE615AE30}"/>
                </a:ext>
              </a:extLst>
            </p:cNvPr>
            <p:cNvSpPr txBox="1"/>
            <p:nvPr/>
          </p:nvSpPr>
          <p:spPr>
            <a:xfrm>
              <a:off x="7980142" y="6050371"/>
              <a:ext cx="3844854" cy="861774"/>
            </a:xfrm>
            <a:prstGeom prst="rect">
              <a:avLst/>
            </a:prstGeom>
            <a:noFill/>
            <a:ln w="349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endParaRPr lang="en-GB" dirty="0"/>
            </a:p>
            <a:p>
              <a:pPr algn="ctr"/>
              <a:r>
                <a:rPr lang="en-GB" sz="1600" dirty="0"/>
                <a:t>Left click on the Group Rename  the Group to Left Spindle mill WCS G54</a:t>
              </a:r>
              <a:endParaRPr lang="en-SG" sz="1600" dirty="0"/>
            </a:p>
          </p:txBody>
        </p:sp>
      </p:grpSp>
    </p:spTree>
    <p:extLst>
      <p:ext uri="{BB962C8B-B14F-4D97-AF65-F5344CB8AC3E}">
        <p14:creationId xmlns:p14="http://schemas.microsoft.com/office/powerpoint/2010/main" val="537865027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75CFE3-0123-704B-C0F0-1A7328528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2453" y="2703999"/>
            <a:ext cx="10980576" cy="1325563"/>
          </a:xfrm>
        </p:spPr>
        <p:txBody>
          <a:bodyPr/>
          <a:lstStyle/>
          <a:p>
            <a:pPr algn="ctr"/>
            <a:r>
              <a:rPr lang="en-GB" dirty="0"/>
              <a:t>Now we will start  Mill operations at left Spindle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4234266728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CD2C8-CCA6-78C0-564F-94B57D165C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120" y="203941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/>
              <a:t>Create the two holes with Advanced Drill function this method will simplify off to create the plane and vector, it auto define the drill direction for you </a:t>
            </a:r>
            <a:endParaRPr lang="en-SG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D818D9-180A-0C66-1A1F-38313E35C4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6707" y="2556106"/>
            <a:ext cx="4875302" cy="193320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6830451-A6E3-CC57-276D-3FE8F0F9568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9808" y="1374770"/>
            <a:ext cx="4117180" cy="5113056"/>
          </a:xfrm>
          <a:prstGeom prst="rect">
            <a:avLst/>
          </a:prstGeom>
        </p:spPr>
      </p:pic>
      <p:sp>
        <p:nvSpPr>
          <p:cNvPr id="8" name="Oval 7">
            <a:extLst>
              <a:ext uri="{FF2B5EF4-FFF2-40B4-BE49-F238E27FC236}">
                <a16:creationId xmlns:a16="http://schemas.microsoft.com/office/drawing/2014/main" id="{49649A3A-48D1-E35C-F4C2-986531F15128}"/>
              </a:ext>
            </a:extLst>
          </p:cNvPr>
          <p:cNvSpPr/>
          <p:nvPr/>
        </p:nvSpPr>
        <p:spPr>
          <a:xfrm flipH="1">
            <a:off x="4550225" y="3931298"/>
            <a:ext cx="1430695" cy="870857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3C6AD5C1-08DE-2EB4-7F10-A78653006935}"/>
              </a:ext>
            </a:extLst>
          </p:cNvPr>
          <p:cNvSpPr/>
          <p:nvPr/>
        </p:nvSpPr>
        <p:spPr>
          <a:xfrm flipH="1">
            <a:off x="8658804" y="4099250"/>
            <a:ext cx="1430695" cy="92062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CC06C28-3155-9806-7481-80382B1C4B1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46292" y="4820014"/>
            <a:ext cx="1430696" cy="1966023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9B0C89B-E46F-3FF9-41C3-D6C625B61590}"/>
              </a:ext>
            </a:extLst>
          </p:cNvPr>
          <p:cNvSpPr txBox="1"/>
          <p:nvPr/>
        </p:nvSpPr>
        <p:spPr>
          <a:xfrm>
            <a:off x="863808" y="5108710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solidFill>
                  <a:srgbClr val="FF0000"/>
                </a:solidFill>
              </a:rPr>
              <a:t>So yes—it can auto-define the direction, but it’s always smart to verify the arrow direction after selected the solid face inside the holes or simulation before posting.</a:t>
            </a:r>
            <a:endParaRPr lang="en-SG" dirty="0">
              <a:solidFill>
                <a:srgbClr val="FF0000"/>
              </a:solidFill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2DFF6350-4EFA-DF43-6163-D52631AEF0A7}"/>
              </a:ext>
            </a:extLst>
          </p:cNvPr>
          <p:cNvCxnSpPr>
            <a:cxnSpLocks/>
            <a:stCxn id="8" idx="2"/>
            <a:endCxn id="10" idx="6"/>
          </p:cNvCxnSpPr>
          <p:nvPr/>
        </p:nvCxnSpPr>
        <p:spPr>
          <a:xfrm>
            <a:off x="5980920" y="4366727"/>
            <a:ext cx="2677884" cy="192833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14532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2CA384-3D02-89BC-CBD6-0F199AD34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0954"/>
            <a:ext cx="10515600" cy="1131509"/>
          </a:xfrm>
        </p:spPr>
        <p:txBody>
          <a:bodyPr>
            <a:normAutofit/>
          </a:bodyPr>
          <a:lstStyle/>
          <a:p>
            <a:pPr algn="ctr"/>
            <a:r>
              <a:rPr lang="en-GB" sz="3600" dirty="0"/>
              <a:t>Selected the Hole solid face you need to drill and check</a:t>
            </a:r>
            <a:br>
              <a:rPr lang="en-GB" sz="3600" dirty="0"/>
            </a:br>
            <a:r>
              <a:rPr lang="en-GB" sz="3600" dirty="0"/>
              <a:t>Green Arrow  direction before  check O.K</a:t>
            </a:r>
            <a:endParaRPr lang="en-SG" sz="3600" dirty="0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35FA8EF-68EA-691B-04DE-3F1DE6C4D070}"/>
              </a:ext>
            </a:extLst>
          </p:cNvPr>
          <p:cNvGrpSpPr/>
          <p:nvPr/>
        </p:nvGrpSpPr>
        <p:grpSpPr>
          <a:xfrm>
            <a:off x="581858" y="1265453"/>
            <a:ext cx="10664368" cy="5320728"/>
            <a:chOff x="1408900" y="1346318"/>
            <a:chExt cx="10664368" cy="5320728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AE57A84B-3B4F-D8F8-FBAE-590A6B263B0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8900" y="1346318"/>
              <a:ext cx="9010284" cy="5320728"/>
            </a:xfrm>
            <a:prstGeom prst="rect">
              <a:avLst/>
            </a:prstGeom>
          </p:spPr>
        </p:pic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776E5F8E-6373-3D3A-8844-DEAD5F473A36}"/>
                </a:ext>
              </a:extLst>
            </p:cNvPr>
            <p:cNvSpPr txBox="1"/>
            <p:nvPr/>
          </p:nvSpPr>
          <p:spPr>
            <a:xfrm>
              <a:off x="8974491" y="4334340"/>
              <a:ext cx="3098777" cy="1388436"/>
            </a:xfrm>
            <a:prstGeom prst="rect">
              <a:avLst/>
            </a:prstGeom>
            <a:solidFill>
              <a:schemeClr val="bg1"/>
            </a:solidFill>
            <a:ln w="34925"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GB" sz="1400" b="1" dirty="0"/>
                <a:t>Selected the hole's solid face here. After Click the O.K button</a:t>
              </a:r>
            </a:p>
            <a:p>
              <a:r>
                <a:rPr lang="en-GB" sz="1400" b="1" dirty="0"/>
                <a:t>👆 i</a:t>
              </a:r>
              <a:r>
                <a:rPr lang="en-GB" sz="1400" dirty="0"/>
                <a:t>f you're selecting a </a:t>
              </a:r>
              <a:r>
                <a:rPr lang="en-GB" sz="1400" b="1" dirty="0"/>
                <a:t>cylinder face</a:t>
              </a:r>
              <a:r>
                <a:rPr lang="en-GB" sz="1400" dirty="0"/>
                <a:t> in Mastercam and want to control or change the </a:t>
              </a:r>
              <a:r>
                <a:rPr lang="en-GB" sz="1400" b="1" dirty="0"/>
                <a:t>drill direction using a vector.</a:t>
              </a:r>
              <a:endParaRPr lang="en-GB" sz="1400" dirty="0"/>
            </a:p>
          </p:txBody>
        </p: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BA1CF65E-4BBA-E5B1-A48B-6EDD8EB517AF}"/>
                </a:ext>
              </a:extLst>
            </p:cNvPr>
            <p:cNvCxnSpPr>
              <a:cxnSpLocks/>
              <a:stCxn id="22" idx="1"/>
            </p:cNvCxnSpPr>
            <p:nvPr/>
          </p:nvCxnSpPr>
          <p:spPr>
            <a:xfrm flipH="1">
              <a:off x="7246776" y="5028558"/>
              <a:ext cx="1727715" cy="159262"/>
            </a:xfrm>
            <a:prstGeom prst="straightConnector1">
              <a:avLst/>
            </a:prstGeom>
            <a:ln w="34925">
              <a:solidFill>
                <a:srgbClr val="FF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AD4C561E-DE5F-86D1-0640-1B795334C103}"/>
                </a:ext>
              </a:extLst>
            </p:cNvPr>
            <p:cNvSpPr/>
            <p:nvPr/>
          </p:nvSpPr>
          <p:spPr>
            <a:xfrm flipH="1">
              <a:off x="3181733" y="2626238"/>
              <a:ext cx="203204" cy="404326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1B448C01-54B3-144D-FAE4-6B23A8047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6296" y="4505965"/>
            <a:ext cx="259930" cy="3328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31559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02224-402A-D67F-7C5D-F47981D491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5678" y="231386"/>
            <a:ext cx="10515600" cy="574157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After Check  O.K 3D model will show as below picture</a:t>
            </a:r>
            <a:endParaRPr lang="en-SG" sz="3600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0B1839B-491F-B1CD-87A9-38DFAFE7A549}"/>
              </a:ext>
            </a:extLst>
          </p:cNvPr>
          <p:cNvGrpSpPr/>
          <p:nvPr/>
        </p:nvGrpSpPr>
        <p:grpSpPr>
          <a:xfrm>
            <a:off x="1400347" y="1012778"/>
            <a:ext cx="10117483" cy="5157867"/>
            <a:chOff x="1400347" y="1012778"/>
            <a:chExt cx="10117483" cy="5157867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AB64EA33-B91D-BEDC-7423-128440402E5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00347" y="1012778"/>
              <a:ext cx="6816813" cy="5157867"/>
            </a:xfrm>
            <a:prstGeom prst="rect">
              <a:avLst/>
            </a:prstGeom>
          </p:spPr>
        </p:pic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A88BC11-5F85-1773-FD34-7570410C8E9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540509" y="1973059"/>
              <a:ext cx="2977321" cy="4079398"/>
            </a:xfrm>
            <a:prstGeom prst="rect">
              <a:avLst/>
            </a:prstGeom>
          </p:spPr>
        </p:pic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5AAB81D2-E7BD-66EE-6063-7AFB9B10F0C4}"/>
                </a:ext>
              </a:extLst>
            </p:cNvPr>
            <p:cNvSpPr/>
            <p:nvPr/>
          </p:nvSpPr>
          <p:spPr>
            <a:xfrm flipH="1">
              <a:off x="3875313" y="1679515"/>
              <a:ext cx="491414" cy="410547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</p:grpSp>
    </p:spTree>
    <p:extLst>
      <p:ext uri="{BB962C8B-B14F-4D97-AF65-F5344CB8AC3E}">
        <p14:creationId xmlns:p14="http://schemas.microsoft.com/office/powerpoint/2010/main" val="309767213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ABC685-FD0F-D094-9DA3-BAC159DA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530614"/>
          </a:xfrm>
        </p:spPr>
        <p:txBody>
          <a:bodyPr>
            <a:normAutofit/>
          </a:bodyPr>
          <a:lstStyle/>
          <a:p>
            <a:pPr algn="ctr"/>
            <a:r>
              <a:rPr lang="en-GB" sz="3200" dirty="0"/>
              <a:t>Select Tool with diameter 6 drill for drilling operation</a:t>
            </a:r>
            <a:endParaRPr lang="en-SG" sz="32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9046E09-8503-C570-B411-5E79E95084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2094" y="991586"/>
            <a:ext cx="6440175" cy="5501288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D4AD3791-E195-88A8-38B7-5CED359BDBEF}"/>
              </a:ext>
            </a:extLst>
          </p:cNvPr>
          <p:cNvSpPr/>
          <p:nvPr/>
        </p:nvSpPr>
        <p:spPr>
          <a:xfrm flipH="1">
            <a:off x="2542094" y="1656219"/>
            <a:ext cx="491414" cy="166758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3D0A3CD-D2DF-17DC-737E-BFA02E9FDE86}"/>
              </a:ext>
            </a:extLst>
          </p:cNvPr>
          <p:cNvSpPr/>
          <p:nvPr/>
        </p:nvSpPr>
        <p:spPr>
          <a:xfrm flipH="1">
            <a:off x="3875313" y="1933636"/>
            <a:ext cx="3579668" cy="156426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71693A2-EAC2-A819-8669-640AB7C490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073" y="1656219"/>
            <a:ext cx="2009950" cy="66812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B35CFD28-456F-E1E4-B25F-D3EE5EB480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66532" y="2394422"/>
            <a:ext cx="7995394" cy="312386"/>
          </a:xfrm>
          <a:prstGeom prst="rect">
            <a:avLst/>
          </a:prstGeom>
        </p:spPr>
      </p:pic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27E35004-388D-EA0D-49DF-065C3815F323}"/>
              </a:ext>
            </a:extLst>
          </p:cNvPr>
          <p:cNvSpPr/>
          <p:nvPr/>
        </p:nvSpPr>
        <p:spPr>
          <a:xfrm>
            <a:off x="436073" y="1933637"/>
            <a:ext cx="1200528" cy="221318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A13DE494-8DF3-FF22-A196-4C424F238522}"/>
              </a:ext>
            </a:extLst>
          </p:cNvPr>
          <p:cNvSpPr/>
          <p:nvPr/>
        </p:nvSpPr>
        <p:spPr>
          <a:xfrm>
            <a:off x="4066531" y="2394422"/>
            <a:ext cx="7995394" cy="312386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A39E16C8-A02B-C311-1D87-FA5399BAC658}"/>
              </a:ext>
            </a:extLst>
          </p:cNvPr>
          <p:cNvCxnSpPr>
            <a:stCxn id="6" idx="6"/>
            <a:endCxn id="14" idx="3"/>
          </p:cNvCxnSpPr>
          <p:nvPr/>
        </p:nvCxnSpPr>
        <p:spPr>
          <a:xfrm flipH="1">
            <a:off x="1636601" y="1739598"/>
            <a:ext cx="905493" cy="304698"/>
          </a:xfrm>
          <a:prstGeom prst="straightConnector1">
            <a:avLst/>
          </a:prstGeom>
          <a:ln w="3492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E91100DE-3929-C200-44AF-FAA760E2E01C}"/>
              </a:ext>
            </a:extLst>
          </p:cNvPr>
          <p:cNvCxnSpPr>
            <a:stCxn id="7" idx="4"/>
          </p:cNvCxnSpPr>
          <p:nvPr/>
        </p:nvCxnSpPr>
        <p:spPr>
          <a:xfrm>
            <a:off x="5665147" y="2090062"/>
            <a:ext cx="147408" cy="304360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579622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1D747-012C-9F38-5786-6E12599BC3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0619" y="231169"/>
            <a:ext cx="10515600" cy="950710"/>
          </a:xfrm>
        </p:spPr>
        <p:txBody>
          <a:bodyPr/>
          <a:lstStyle/>
          <a:p>
            <a:pPr algn="ctr"/>
            <a:r>
              <a:rPr lang="en-GB" dirty="0"/>
              <a:t>Select the Holder as below Picture</a:t>
            </a:r>
            <a:endParaRPr lang="en-SG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C3596B6-845F-EF02-0A8A-7515636A21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32433" y="1181879"/>
            <a:ext cx="6218581" cy="540091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50375A-58B5-234E-422A-A490D4BA4E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197" y="1976904"/>
            <a:ext cx="1467055" cy="266737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5852BF8A-8C7F-5BC6-2E7A-A40551E826FE}"/>
              </a:ext>
            </a:extLst>
          </p:cNvPr>
          <p:cNvSpPr/>
          <p:nvPr/>
        </p:nvSpPr>
        <p:spPr>
          <a:xfrm>
            <a:off x="5481523" y="1869576"/>
            <a:ext cx="1333792" cy="481392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82D6398-4D18-7EB0-8F11-82447B16C194}"/>
              </a:ext>
            </a:extLst>
          </p:cNvPr>
          <p:cNvSpPr/>
          <p:nvPr/>
        </p:nvSpPr>
        <p:spPr>
          <a:xfrm>
            <a:off x="4508642" y="1998726"/>
            <a:ext cx="606857" cy="133863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65A88EF-04BA-C131-9983-22DB6619E78B}"/>
              </a:ext>
            </a:extLst>
          </p:cNvPr>
          <p:cNvCxnSpPr>
            <a:stCxn id="10" idx="3"/>
            <a:endCxn id="9" idx="1"/>
          </p:cNvCxnSpPr>
          <p:nvPr/>
        </p:nvCxnSpPr>
        <p:spPr>
          <a:xfrm>
            <a:off x="5115499" y="2065658"/>
            <a:ext cx="366024" cy="44614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7963847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49E50C4E-45C1-A131-E9FC-61343ABF06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4456" y="-88014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GB" sz="2800" dirty="0"/>
              <a:t>You can create depth of cut per step at this cut parameters page at the Advanced drill function </a:t>
            </a:r>
            <a:endParaRPr lang="en-SG" sz="2800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036FF9D-6AB6-EFE3-E44A-1AA661222725}"/>
              </a:ext>
            </a:extLst>
          </p:cNvPr>
          <p:cNvGrpSpPr/>
          <p:nvPr/>
        </p:nvGrpSpPr>
        <p:grpSpPr>
          <a:xfrm>
            <a:off x="971346" y="956559"/>
            <a:ext cx="10428710" cy="5620451"/>
            <a:chOff x="971346" y="956559"/>
            <a:chExt cx="10428710" cy="562045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A7360B9-1235-D813-9150-0184062B2C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71346" y="956559"/>
              <a:ext cx="6487156" cy="5620451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83DE6E7D-1BD6-21D5-0995-FB1CE66EEB2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458502" y="1260534"/>
              <a:ext cx="3941554" cy="1890596"/>
            </a:xfrm>
            <a:prstGeom prst="rect">
              <a:avLst/>
            </a:prstGeom>
          </p:spPr>
        </p:pic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41DA6DE5-7F24-AA9D-5D76-4DE9D6976007}"/>
                </a:ext>
              </a:extLst>
            </p:cNvPr>
            <p:cNvSpPr/>
            <p:nvPr/>
          </p:nvSpPr>
          <p:spPr>
            <a:xfrm flipH="1">
              <a:off x="2033516" y="1418887"/>
              <a:ext cx="3753134" cy="1212110"/>
            </a:xfrm>
            <a:prstGeom prst="ellipse">
              <a:avLst/>
            </a:prstGeom>
            <a:noFill/>
            <a:ln w="2222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 dirty="0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13CB91B2-A469-162E-B970-A26D9F247A3A}"/>
                </a:ext>
              </a:extLst>
            </p:cNvPr>
            <p:cNvSpPr/>
            <p:nvPr/>
          </p:nvSpPr>
          <p:spPr>
            <a:xfrm>
              <a:off x="7458502" y="1260534"/>
              <a:ext cx="3941554" cy="189059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SG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4C3284C4-22B5-04F0-CCD7-B64AB072F30B}"/>
              </a:ext>
            </a:extLst>
          </p:cNvPr>
          <p:cNvSpPr txBox="1"/>
          <p:nvPr/>
        </p:nvSpPr>
        <p:spPr>
          <a:xfrm>
            <a:off x="7545392" y="2009192"/>
            <a:ext cx="358913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600" dirty="0"/>
              <a:t>Total depth was 15mm and for this example we create per cut with 5mm and break the chip by Dwell 3ms until reached the end of dimension.</a:t>
            </a:r>
            <a:endParaRPr lang="en-SG" sz="1600" dirty="0"/>
          </a:p>
        </p:txBody>
      </p:sp>
    </p:spTree>
    <p:extLst>
      <p:ext uri="{BB962C8B-B14F-4D97-AF65-F5344CB8AC3E}">
        <p14:creationId xmlns:p14="http://schemas.microsoft.com/office/powerpoint/2010/main" val="4114164945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1B8D-1CD0-2B8A-4A8F-8A33CD9834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5996" y="576619"/>
            <a:ext cx="10515600" cy="885177"/>
          </a:xfrm>
        </p:spPr>
        <p:txBody>
          <a:bodyPr>
            <a:normAutofit fontScale="90000"/>
          </a:bodyPr>
          <a:lstStyle/>
          <a:p>
            <a:pPr algn="ctr"/>
            <a:r>
              <a:rPr lang="en-SG" b="0" i="0" dirty="0">
                <a:solidFill>
                  <a:srgbClr val="333333"/>
                </a:solidFill>
                <a:effectLst/>
                <a:latin typeface="Noto Sans" panose="020B0502040504020204" pitchFamily="34" charset="0"/>
              </a:rPr>
              <a:t>Tool Axis Control page</a:t>
            </a:r>
            <a:br>
              <a:rPr lang="en-SG" b="0" i="0" dirty="0">
                <a:solidFill>
                  <a:srgbClr val="333333"/>
                </a:solidFill>
                <a:effectLst/>
                <a:latin typeface="Noto Sans" panose="020B0502040504020204" pitchFamily="34" charset="0"/>
              </a:rPr>
            </a:b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5AF0F5-8D97-916E-7806-28BBF62172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76295" y="1393758"/>
            <a:ext cx="6031803" cy="51656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7837836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FC42CF-8685-59F6-06FD-3D51101F7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41161"/>
          </a:xfrm>
        </p:spPr>
        <p:txBody>
          <a:bodyPr>
            <a:normAutofit fontScale="90000"/>
          </a:bodyPr>
          <a:lstStyle/>
          <a:p>
            <a:r>
              <a:rPr lang="en-SG" b="0" i="0" dirty="0">
                <a:solidFill>
                  <a:srgbClr val="333333"/>
                </a:solidFill>
                <a:effectLst/>
                <a:latin typeface="Noto Sans" panose="020B0502040504020204" pitchFamily="34" charset="0"/>
              </a:rPr>
              <a:t>Linking Parameters show as below picture</a:t>
            </a:r>
            <a:br>
              <a:rPr lang="en-SG" b="0" i="0" dirty="0">
                <a:solidFill>
                  <a:srgbClr val="333333"/>
                </a:solidFill>
                <a:effectLst/>
                <a:latin typeface="Noto Sans" panose="020B0502040504020204" pitchFamily="34" charset="0"/>
              </a:rPr>
            </a:br>
            <a:endParaRPr lang="en-SG" dirty="0"/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7FAB12E9-B790-8C12-C560-0573364AFB0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5169" y="1563296"/>
            <a:ext cx="5499204" cy="4750323"/>
          </a:xfrm>
        </p:spPr>
      </p:pic>
    </p:spTree>
    <p:extLst>
      <p:ext uri="{BB962C8B-B14F-4D97-AF65-F5344CB8AC3E}">
        <p14:creationId xmlns:p14="http://schemas.microsoft.com/office/powerpoint/2010/main" val="2166700307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E13E-B916-ECCC-2BC2-5CC3B857C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6545"/>
            <a:ext cx="10575560" cy="941161"/>
          </a:xfrm>
        </p:spPr>
        <p:txBody>
          <a:bodyPr>
            <a:noAutofit/>
          </a:bodyPr>
          <a:lstStyle/>
          <a:p>
            <a:pPr algn="ctr"/>
            <a:r>
              <a:rPr lang="en-GB" sz="3600" dirty="0"/>
              <a:t>Advanced Drill NC code</a:t>
            </a:r>
            <a:endParaRPr lang="en-SG" sz="36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85BFEB1-C0D7-CD26-08A8-60E0B1282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8240" y="851366"/>
            <a:ext cx="4948003" cy="578744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D288301-8EEC-DBE9-15F2-DA55FB224C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65759" y="847984"/>
            <a:ext cx="4791854" cy="58146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81637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95624E-D7D8-0A22-9100-FF9D480CFC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0161"/>
            <a:ext cx="10515600" cy="590640"/>
          </a:xfrm>
        </p:spPr>
        <p:txBody>
          <a:bodyPr>
            <a:noAutofit/>
          </a:bodyPr>
          <a:lstStyle/>
          <a:p>
            <a:pPr algn="ctr"/>
            <a:r>
              <a:rPr lang="en-GB" sz="2800" dirty="0"/>
              <a:t>Continue the rest of the Mill operations, any issue can refer to the Mastercam part file with completed toolpaths. </a:t>
            </a:r>
            <a:endParaRPr lang="en-SG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20AFE33-9873-9566-B128-A51DAD530A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823" y="1068003"/>
            <a:ext cx="5700166" cy="5250024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A3DA7D-1E1E-813E-C05E-C8471D0E60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1665" y="957644"/>
            <a:ext cx="5035512" cy="5360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7519057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7F7435-34D4-61FE-F723-D9B4F87B20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Apply of Pickoff function</a:t>
            </a:r>
            <a:endParaRPr lang="en-SG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4913C85-6485-8DD4-A5B1-20AFA222FB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014" y="1764943"/>
            <a:ext cx="3458058" cy="44106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A497AB55-2100-6D2F-F868-3E583AE163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5241" y="1764943"/>
            <a:ext cx="6333556" cy="140611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14FDB1B-5D27-7912-8E1E-A4B193569E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16621" y="3592882"/>
            <a:ext cx="2043812" cy="2380216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9753654-5287-D19E-8FDA-DF35BBB4CC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67806" y="3592882"/>
            <a:ext cx="1949483" cy="2348354"/>
          </a:xfrm>
          <a:prstGeom prst="rect">
            <a:avLst/>
          </a:prstGeom>
        </p:spPr>
      </p:pic>
      <p:sp>
        <p:nvSpPr>
          <p:cNvPr id="16" name="Oval 15">
            <a:extLst>
              <a:ext uri="{FF2B5EF4-FFF2-40B4-BE49-F238E27FC236}">
                <a16:creationId xmlns:a16="http://schemas.microsoft.com/office/drawing/2014/main" id="{AAD31B6A-E6D0-9E43-6CF7-110312F28D78}"/>
              </a:ext>
            </a:extLst>
          </p:cNvPr>
          <p:cNvSpPr/>
          <p:nvPr/>
        </p:nvSpPr>
        <p:spPr>
          <a:xfrm flipH="1">
            <a:off x="1380931" y="1764944"/>
            <a:ext cx="1586204" cy="1406110"/>
          </a:xfrm>
          <a:prstGeom prst="ellipse">
            <a:avLst/>
          </a:prstGeom>
          <a:noFill/>
          <a:ln w="2222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DAFF0AE-7CE3-A242-1605-D20CC2231BB9}"/>
              </a:ext>
            </a:extLst>
          </p:cNvPr>
          <p:cNvSpPr txBox="1"/>
          <p:nvPr/>
        </p:nvSpPr>
        <p:spPr>
          <a:xfrm>
            <a:off x="5150498" y="5973098"/>
            <a:ext cx="156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Before Pickoff </a:t>
            </a:r>
            <a:endParaRPr lang="en-SG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E2B1AA6-8351-A0EF-393F-0A2F18133E32}"/>
              </a:ext>
            </a:extLst>
          </p:cNvPr>
          <p:cNvSpPr txBox="1"/>
          <p:nvPr/>
        </p:nvSpPr>
        <p:spPr>
          <a:xfrm>
            <a:off x="9061886" y="6038412"/>
            <a:ext cx="15613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/>
              <a:t>After Pickoff 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283596442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83C4C2-6C6F-AA32-77A1-48C6D8562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S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76A94E9-362F-72FE-98EF-DD435EE574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175061853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3018AAA-9F63-27D5-46FF-9228F903D0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1039" y="903916"/>
            <a:ext cx="11549921" cy="52819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D1AAA84B-6523-E585-C81B-99499B50EF91}"/>
              </a:ext>
            </a:extLst>
          </p:cNvPr>
          <p:cNvSpPr txBox="1"/>
          <p:nvPr/>
        </p:nvSpPr>
        <p:spPr>
          <a:xfrm>
            <a:off x="3597836" y="208639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3"/>
              </a:rPr>
              <a:t>Multi Axis Pocketing with Mastercam</a:t>
            </a:r>
            <a:endParaRPr lang="en-SG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87E219-AE37-11E6-07CD-4AEC398FB2D0}"/>
              </a:ext>
            </a:extLst>
          </p:cNvPr>
          <p:cNvSpPr txBox="1"/>
          <p:nvPr/>
        </p:nvSpPr>
        <p:spPr>
          <a:xfrm>
            <a:off x="3753223" y="2397169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4"/>
              </a:rPr>
              <a:t>Mastercam - </a:t>
            </a:r>
            <a:r>
              <a:rPr lang="en-GB" dirty="0" err="1">
                <a:hlinkClick r:id="rId4"/>
              </a:rPr>
              <a:t>Multiaxis</a:t>
            </a:r>
            <a:r>
              <a:rPr lang="en-GB" dirty="0">
                <a:hlinkClick r:id="rId4"/>
              </a:rPr>
              <a:t> Pocketing on an open shape</a:t>
            </a:r>
            <a:endParaRPr lang="en-SG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530DD5-9A41-289C-9DE9-D01AC36A9173}"/>
              </a:ext>
            </a:extLst>
          </p:cNvPr>
          <p:cNvSpPr txBox="1"/>
          <p:nvPr/>
        </p:nvSpPr>
        <p:spPr>
          <a:xfrm>
            <a:off x="4434542" y="2707946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5"/>
              </a:rPr>
              <a:t>5 axis Roughing with Mastercam's Multi-axis Pocket</a:t>
            </a:r>
            <a:endParaRPr lang="en-SG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2FBDA8-C68D-E95F-7D91-D63B1972E1CA}"/>
              </a:ext>
            </a:extLst>
          </p:cNvPr>
          <p:cNvSpPr txBox="1"/>
          <p:nvPr/>
        </p:nvSpPr>
        <p:spPr>
          <a:xfrm>
            <a:off x="5791201" y="3033941"/>
            <a:ext cx="382494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6"/>
              </a:rPr>
              <a:t>Mastercam </a:t>
            </a:r>
            <a:r>
              <a:rPr lang="en-GB" dirty="0" err="1">
                <a:hlinkClick r:id="rId6"/>
              </a:rPr>
              <a:t>MultiAxis</a:t>
            </a:r>
            <a:r>
              <a:rPr lang="en-GB" dirty="0">
                <a:hlinkClick r:id="rId6"/>
              </a:rPr>
              <a:t> Flow, Parallel, and Morph on Day 2 of Ron Week!</a:t>
            </a:r>
            <a:endParaRPr lang="en-SG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D85F647-11C2-FED1-6DF8-D5000BF075C6}"/>
              </a:ext>
            </a:extLst>
          </p:cNvPr>
          <p:cNvSpPr txBox="1"/>
          <p:nvPr/>
        </p:nvSpPr>
        <p:spPr>
          <a:xfrm>
            <a:off x="4972422" y="4769648"/>
            <a:ext cx="417755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hlinkClick r:id="rId7"/>
              </a:rPr>
              <a:t>UNIFIED MULTIAXIS with Mastercam 2022</a:t>
            </a:r>
            <a:endParaRPr lang="en-SG" dirty="0"/>
          </a:p>
        </p:txBody>
      </p:sp>
    </p:spTree>
    <p:extLst>
      <p:ext uri="{BB962C8B-B14F-4D97-AF65-F5344CB8AC3E}">
        <p14:creationId xmlns:p14="http://schemas.microsoft.com/office/powerpoint/2010/main" val="38432786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3122</TotalTime>
  <Words>1026</Words>
  <Application>Microsoft Office PowerPoint</Application>
  <PresentationFormat>Widescreen</PresentationFormat>
  <Paragraphs>114</Paragraphs>
  <Slides>63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63</vt:i4>
      </vt:variant>
    </vt:vector>
  </HeadingPairs>
  <TitlesOfParts>
    <vt:vector size="69" baseType="lpstr">
      <vt:lpstr>Aptos</vt:lpstr>
      <vt:lpstr>Arial</vt:lpstr>
      <vt:lpstr>Calibri</vt:lpstr>
      <vt:lpstr>Calibri Light</vt:lpstr>
      <vt:lpstr>Noto Sans</vt:lpstr>
      <vt:lpstr>Office Theme</vt:lpstr>
      <vt:lpstr>PowerPoint Presentation</vt:lpstr>
      <vt:lpstr>Select Machine Type</vt:lpstr>
      <vt:lpstr>After selected machine Type the Machine Group Properties pop up</vt:lpstr>
      <vt:lpstr>Just for information about Machine  Configuration</vt:lpstr>
      <vt:lpstr>Select Work Holding to change the Left and right spindle chucks setting  </vt:lpstr>
      <vt:lpstr>Set the Left Spindle Chuck as picture 2 parameters </vt:lpstr>
      <vt:lpstr>Set the Right Spindle Chuck as picture 2 parameters </vt:lpstr>
      <vt:lpstr>Change Max speed for Left and Right spindle to 2500</vt:lpstr>
      <vt:lpstr>Set the Setup Type as show at below picture </vt:lpstr>
      <vt:lpstr>Set WCS to Top</vt:lpstr>
      <vt:lpstr>Set the Left Spindle for Part Geometry </vt:lpstr>
      <vt:lpstr>Set Bar Stock Size accordingly show as the picture</vt:lpstr>
      <vt:lpstr>Set Toolplane Origin Z as below picture</vt:lpstr>
      <vt:lpstr>Set Stickout length as picture show</vt:lpstr>
      <vt:lpstr>Set Right Spindle Toolplane Origin Z as picture  below</vt:lpstr>
      <vt:lpstr>Set the Right Spindle pickoff point value  as show on the picture  </vt:lpstr>
      <vt:lpstr>Prepare  Tooling and ready to  Cut </vt:lpstr>
      <vt:lpstr>Select Tool library (CET_AND_PET_MT.TOOLDB)  for this project </vt:lpstr>
      <vt:lpstr>Select Tool library (CET_AND_PET_MT.TOOLDB)  for this project </vt:lpstr>
      <vt:lpstr>Drag T3434R0.4 Lathe Tool to Tool Manager window</vt:lpstr>
      <vt:lpstr>Right click and select Load tool on machine </vt:lpstr>
      <vt:lpstr>Drag HSK A63 Axial LIU 25mm holder to Tool Spindle location  </vt:lpstr>
      <vt:lpstr>Drag T34 OD Tool to Tool Index Floating location </vt:lpstr>
      <vt:lpstr>Right click on Tool Spindle location  and select view all to see the whole tooling assembly</vt:lpstr>
      <vt:lpstr>Select 'OK' and use this tool to practice your toolpaths for OD Facing, OD Roughing, and OD Finishing operations</vt:lpstr>
      <vt:lpstr>Change the name of Toolpath Group 1 to Left Spindle Lathe cutting WCS G54</vt:lpstr>
      <vt:lpstr> Create Lathe Toolpath operations</vt:lpstr>
      <vt:lpstr>Click on Turning and select Face</vt:lpstr>
      <vt:lpstr>Select Tool Angle to change for left spindle cutting and the rest of the parameters follow accordingly as picture show</vt:lpstr>
      <vt:lpstr>Change Tool Angle parameters as picture show</vt:lpstr>
      <vt:lpstr>Information for Upper Left spindle Origin </vt:lpstr>
      <vt:lpstr>Input Ref point as below picture</vt:lpstr>
      <vt:lpstr>Key the Face parameters follow accordingly as picture show than O.K</vt:lpstr>
      <vt:lpstr>Select G1 Working with the Sync Manager </vt:lpstr>
      <vt:lpstr>Some Machine Group parameters Show on  Sync Manager page</vt:lpstr>
      <vt:lpstr>Some Lathe Face Turning parameters Show on  Sync Manager page</vt:lpstr>
      <vt:lpstr>Some Lathe Face Turning Approach parameters Show on  Sync Manager page</vt:lpstr>
      <vt:lpstr>Some Lathe Face Turning Retrach parameters Show on  Sync Manager page</vt:lpstr>
      <vt:lpstr>Continue the rest of the lathe operations, any issue can refer to the Mastercam part file with completed toolpaths. </vt:lpstr>
      <vt:lpstr>Create Stock Model after lathe operations to apply on  some Milling functions</vt:lpstr>
      <vt:lpstr>Create Stock Model select Icon as below diagram</vt:lpstr>
      <vt:lpstr>Select all  Source Operations as below picture</vt:lpstr>
      <vt:lpstr>Input the Stock Definition parameters as below</vt:lpstr>
      <vt:lpstr>Develop the milling toolpaths required to complete first-side machining for the job</vt:lpstr>
      <vt:lpstr>Select the milling method for tool preparation.</vt:lpstr>
      <vt:lpstr>Prepare the mill tooling before starting the milling toolpath development show as below picture .</vt:lpstr>
      <vt:lpstr>Drag all using tools to the Tool Manager page window.</vt:lpstr>
      <vt:lpstr>All Mill tools are ready to use to development the milling toolpaths.</vt:lpstr>
      <vt:lpstr>Create a New Toolpath group to start the Milling operation maintain a good housekeeping .</vt:lpstr>
      <vt:lpstr>Now we will start  Mill operations at left Spindle </vt:lpstr>
      <vt:lpstr>Create the two holes with Advanced Drill function this method will simplify off to create the plane and vector, it auto define the drill direction for you </vt:lpstr>
      <vt:lpstr>Selected the Hole solid face you need to drill and check Green Arrow  direction before  check O.K</vt:lpstr>
      <vt:lpstr>After Check  O.K 3D model will show as below picture</vt:lpstr>
      <vt:lpstr>Select Tool with diameter 6 drill for drilling operation</vt:lpstr>
      <vt:lpstr>Select the Holder as below Picture</vt:lpstr>
      <vt:lpstr>You can create depth of cut per step at this cut parameters page at the Advanced drill function </vt:lpstr>
      <vt:lpstr>Tool Axis Control page </vt:lpstr>
      <vt:lpstr>Linking Parameters show as below picture </vt:lpstr>
      <vt:lpstr>Advanced Drill NC code</vt:lpstr>
      <vt:lpstr>Continue the rest of the Mill operations, any issue can refer to the Mastercam part file with completed toolpaths. </vt:lpstr>
      <vt:lpstr>Apply of Pickoff function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Yew Guan Poh</dc:creator>
  <cp:lastModifiedBy>common</cp:lastModifiedBy>
  <cp:revision>201</cp:revision>
  <dcterms:created xsi:type="dcterms:W3CDTF">2025-07-05T13:38:30Z</dcterms:created>
  <dcterms:modified xsi:type="dcterms:W3CDTF">2025-08-04T06:58:39Z</dcterms:modified>
</cp:coreProperties>
</file>